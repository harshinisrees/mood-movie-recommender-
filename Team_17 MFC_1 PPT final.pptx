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ntic Bold" charset="1" panose="00000000000000000000"/>
      <p:regular r:id="rId24"/>
    </p:embeddedFont>
    <p:embeddedFont>
      <p:font typeface="Antic" charset="1" panose="00000000000000000000"/>
      <p:regular r:id="rId25"/>
    </p:embeddedFont>
    <p:embeddedFont>
      <p:font typeface="TAN Headline"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embeddings/oleObject1.bin" Type="http://schemas.openxmlformats.org/officeDocument/2006/relationships/oleObject"/><Relationship Id="rId4"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embeddings/oleObject2.bin" Type="http://schemas.openxmlformats.org/officeDocument/2006/relationships/oleObject"/><Relationship Id="rId4"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https://joana-blepharitic-nancey.ngrok-free.dev"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40237" y="2171208"/>
            <a:ext cx="13607527" cy="5944585"/>
            <a:chOff x="0" y="0"/>
            <a:chExt cx="3583875" cy="1565652"/>
          </a:xfrm>
        </p:grpSpPr>
        <p:sp>
          <p:nvSpPr>
            <p:cNvPr name="Freeform 3" id="3"/>
            <p:cNvSpPr/>
            <p:nvPr/>
          </p:nvSpPr>
          <p:spPr>
            <a:xfrm flipH="false" flipV="false" rot="0">
              <a:off x="0" y="0"/>
              <a:ext cx="3583875" cy="1565652"/>
            </a:xfrm>
            <a:custGeom>
              <a:avLst/>
              <a:gdLst/>
              <a:ahLst/>
              <a:cxnLst/>
              <a:rect r="r" b="b" t="t" l="l"/>
              <a:pathLst>
                <a:path h="1565652" w="3583875">
                  <a:moveTo>
                    <a:pt x="0" y="0"/>
                  </a:moveTo>
                  <a:lnTo>
                    <a:pt x="3583875" y="0"/>
                  </a:lnTo>
                  <a:lnTo>
                    <a:pt x="3583875" y="1565652"/>
                  </a:lnTo>
                  <a:lnTo>
                    <a:pt x="0" y="1565652"/>
                  </a:lnTo>
                  <a:close/>
                </a:path>
              </a:pathLst>
            </a:custGeom>
            <a:solidFill>
              <a:srgbClr val="FFFFFF"/>
            </a:solidFill>
          </p:spPr>
        </p:sp>
        <p:sp>
          <p:nvSpPr>
            <p:cNvPr name="TextBox 4" id="4"/>
            <p:cNvSpPr txBox="true"/>
            <p:nvPr/>
          </p:nvSpPr>
          <p:spPr>
            <a:xfrm>
              <a:off x="0" y="-85725"/>
              <a:ext cx="3583875" cy="1651377"/>
            </a:xfrm>
            <a:prstGeom prst="rect">
              <a:avLst/>
            </a:prstGeom>
          </p:spPr>
          <p:txBody>
            <a:bodyPr anchor="ctr" rtlCol="false" tIns="50800" lIns="50800" bIns="50800" rIns="50800"/>
            <a:lstStyle/>
            <a:p>
              <a:pPr algn="ctr">
                <a:lnSpc>
                  <a:spcPts val="2506"/>
                </a:lnSpc>
              </a:pPr>
            </a:p>
          </p:txBody>
        </p:sp>
      </p:grpSp>
      <p:sp>
        <p:nvSpPr>
          <p:cNvPr name="Freeform 5" id="5"/>
          <p:cNvSpPr/>
          <p:nvPr/>
        </p:nvSpPr>
        <p:spPr>
          <a:xfrm flipH="false" flipV="false" rot="1079160">
            <a:off x="3941601" y="7782848"/>
            <a:ext cx="3760839" cy="4114800"/>
          </a:xfrm>
          <a:custGeom>
            <a:avLst/>
            <a:gdLst/>
            <a:ahLst/>
            <a:cxnLst/>
            <a:rect r="r" b="b" t="t" l="l"/>
            <a:pathLst>
              <a:path h="4114800" w="3760839">
                <a:moveTo>
                  <a:pt x="0" y="0"/>
                </a:moveTo>
                <a:lnTo>
                  <a:pt x="3760838" y="0"/>
                </a:lnTo>
                <a:lnTo>
                  <a:pt x="376083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436891">
            <a:off x="-57322" y="6455483"/>
            <a:ext cx="4167216" cy="3646314"/>
          </a:xfrm>
          <a:custGeom>
            <a:avLst/>
            <a:gdLst/>
            <a:ahLst/>
            <a:cxnLst/>
            <a:rect r="r" b="b" t="t" l="l"/>
            <a:pathLst>
              <a:path h="3646314" w="4167216">
                <a:moveTo>
                  <a:pt x="0" y="0"/>
                </a:moveTo>
                <a:lnTo>
                  <a:pt x="4167216" y="0"/>
                </a:lnTo>
                <a:lnTo>
                  <a:pt x="4167216" y="3646314"/>
                </a:lnTo>
                <a:lnTo>
                  <a:pt x="0" y="36463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952308">
            <a:off x="14121375" y="-201759"/>
            <a:ext cx="4415125" cy="3162333"/>
          </a:xfrm>
          <a:custGeom>
            <a:avLst/>
            <a:gdLst/>
            <a:ahLst/>
            <a:cxnLst/>
            <a:rect r="r" b="b" t="t" l="l"/>
            <a:pathLst>
              <a:path h="3162333" w="4415125">
                <a:moveTo>
                  <a:pt x="0" y="0"/>
                </a:moveTo>
                <a:lnTo>
                  <a:pt x="4415125" y="0"/>
                </a:lnTo>
                <a:lnTo>
                  <a:pt x="4415125" y="3162333"/>
                </a:lnTo>
                <a:lnTo>
                  <a:pt x="0" y="31623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08957" y="84338"/>
            <a:ext cx="4000154" cy="3352856"/>
          </a:xfrm>
          <a:custGeom>
            <a:avLst/>
            <a:gdLst/>
            <a:ahLst/>
            <a:cxnLst/>
            <a:rect r="r" b="b" t="t" l="l"/>
            <a:pathLst>
              <a:path h="3352856" w="4000154">
                <a:moveTo>
                  <a:pt x="0" y="0"/>
                </a:moveTo>
                <a:lnTo>
                  <a:pt x="4000154" y="0"/>
                </a:lnTo>
                <a:lnTo>
                  <a:pt x="4000154" y="3352856"/>
                </a:lnTo>
                <a:lnTo>
                  <a:pt x="0" y="33528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863375" y="5943901"/>
            <a:ext cx="4177060" cy="4669478"/>
          </a:xfrm>
          <a:custGeom>
            <a:avLst/>
            <a:gdLst/>
            <a:ahLst/>
            <a:cxnLst/>
            <a:rect r="r" b="b" t="t" l="l"/>
            <a:pathLst>
              <a:path h="4669478" w="4177060">
                <a:moveTo>
                  <a:pt x="0" y="0"/>
                </a:moveTo>
                <a:lnTo>
                  <a:pt x="4177060" y="0"/>
                </a:lnTo>
                <a:lnTo>
                  <a:pt x="4177060" y="4669478"/>
                </a:lnTo>
                <a:lnTo>
                  <a:pt x="0" y="46694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679025">
            <a:off x="10705139" y="8572740"/>
            <a:ext cx="3223244" cy="2279712"/>
          </a:xfrm>
          <a:custGeom>
            <a:avLst/>
            <a:gdLst/>
            <a:ahLst/>
            <a:cxnLst/>
            <a:rect r="r" b="b" t="t" l="l"/>
            <a:pathLst>
              <a:path h="2279712" w="3223244">
                <a:moveTo>
                  <a:pt x="0" y="0"/>
                </a:moveTo>
                <a:lnTo>
                  <a:pt x="3223244" y="0"/>
                </a:lnTo>
                <a:lnTo>
                  <a:pt x="3223244" y="2279712"/>
                </a:lnTo>
                <a:lnTo>
                  <a:pt x="0" y="22797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5916888" y="173730"/>
            <a:ext cx="6454223" cy="2411355"/>
          </a:xfrm>
          <a:custGeom>
            <a:avLst/>
            <a:gdLst/>
            <a:ahLst/>
            <a:cxnLst/>
            <a:rect r="r" b="b" t="t" l="l"/>
            <a:pathLst>
              <a:path h="2411355" w="6454223">
                <a:moveTo>
                  <a:pt x="0" y="0"/>
                </a:moveTo>
                <a:lnTo>
                  <a:pt x="6454224" y="0"/>
                </a:lnTo>
                <a:lnTo>
                  <a:pt x="6454224" y="2411355"/>
                </a:lnTo>
                <a:lnTo>
                  <a:pt x="0" y="2411355"/>
                </a:lnTo>
                <a:lnTo>
                  <a:pt x="0" y="0"/>
                </a:lnTo>
                <a:close/>
              </a:path>
            </a:pathLst>
          </a:custGeom>
          <a:blipFill>
            <a:blip r:embed="rId14"/>
            <a:stretch>
              <a:fillRect l="0" t="0" r="0" b="0"/>
            </a:stretch>
          </a:blipFill>
        </p:spPr>
      </p:sp>
      <p:sp>
        <p:nvSpPr>
          <p:cNvPr name="TextBox 12" id="12"/>
          <p:cNvSpPr txBox="true"/>
          <p:nvPr/>
        </p:nvSpPr>
        <p:spPr>
          <a:xfrm rot="0">
            <a:off x="6885760" y="5114925"/>
            <a:ext cx="5167389" cy="4111127"/>
          </a:xfrm>
          <a:prstGeom prst="rect">
            <a:avLst/>
          </a:prstGeom>
        </p:spPr>
        <p:txBody>
          <a:bodyPr anchor="t" rtlCol="false" tIns="0" lIns="0" bIns="0" rIns="0">
            <a:spAutoFit/>
          </a:bodyPr>
          <a:lstStyle/>
          <a:p>
            <a:pPr algn="ctr">
              <a:lnSpc>
                <a:spcPts val="3274"/>
              </a:lnSpc>
            </a:pPr>
            <a:r>
              <a:rPr lang="en-US" sz="2518">
                <a:solidFill>
                  <a:srgbClr val="000000"/>
                </a:solidFill>
                <a:latin typeface="Antic Bold"/>
                <a:ea typeface="Antic Bold"/>
                <a:cs typeface="Antic Bold"/>
                <a:sym typeface="Antic Bold"/>
              </a:rPr>
              <a:t>Mathematics for Computing-1</a:t>
            </a:r>
          </a:p>
          <a:p>
            <a:pPr algn="ctr">
              <a:lnSpc>
                <a:spcPts val="3274"/>
              </a:lnSpc>
            </a:pPr>
            <a:r>
              <a:rPr lang="en-US" sz="2518">
                <a:solidFill>
                  <a:srgbClr val="000000"/>
                </a:solidFill>
                <a:latin typeface="Antic Bold"/>
                <a:ea typeface="Antic Bold"/>
                <a:cs typeface="Antic Bold"/>
                <a:sym typeface="Antic Bold"/>
              </a:rPr>
              <a:t> Team-17</a:t>
            </a:r>
          </a:p>
          <a:p>
            <a:pPr algn="ctr">
              <a:lnSpc>
                <a:spcPts val="3274"/>
              </a:lnSpc>
            </a:pPr>
            <a:r>
              <a:rPr lang="en-US" sz="2518">
                <a:solidFill>
                  <a:srgbClr val="000000"/>
                </a:solidFill>
                <a:latin typeface="Antic"/>
                <a:ea typeface="Antic"/>
                <a:cs typeface="Antic"/>
                <a:sym typeface="Antic"/>
              </a:rPr>
              <a:t>Prakeya S CB.SC.U4AIE25042</a:t>
            </a:r>
          </a:p>
          <a:p>
            <a:pPr algn="ctr">
              <a:lnSpc>
                <a:spcPts val="3274"/>
              </a:lnSpc>
            </a:pPr>
            <a:r>
              <a:rPr lang="en-US" sz="2518">
                <a:solidFill>
                  <a:srgbClr val="000000"/>
                </a:solidFill>
                <a:latin typeface="Antic"/>
                <a:ea typeface="Antic"/>
                <a:cs typeface="Antic"/>
                <a:sym typeface="Antic"/>
              </a:rPr>
              <a:t> S Harshini Sree CB.SC.U4AIE25044</a:t>
            </a:r>
          </a:p>
          <a:p>
            <a:pPr algn="ctr">
              <a:lnSpc>
                <a:spcPts val="3274"/>
              </a:lnSpc>
            </a:pPr>
            <a:r>
              <a:rPr lang="en-US" sz="2518">
                <a:solidFill>
                  <a:srgbClr val="000000"/>
                </a:solidFill>
                <a:latin typeface="Antic"/>
                <a:ea typeface="Antic"/>
                <a:cs typeface="Antic"/>
                <a:sym typeface="Antic"/>
              </a:rPr>
              <a:t> Thiyaanesh N R CB.SC.U4AIE25055</a:t>
            </a:r>
          </a:p>
          <a:p>
            <a:pPr algn="ctr">
              <a:lnSpc>
                <a:spcPts val="3274"/>
              </a:lnSpc>
            </a:pPr>
            <a:r>
              <a:rPr lang="en-US" sz="2518">
                <a:solidFill>
                  <a:srgbClr val="000000"/>
                </a:solidFill>
                <a:latin typeface="Antic"/>
                <a:ea typeface="Antic"/>
                <a:cs typeface="Antic"/>
                <a:sym typeface="Antic"/>
              </a:rPr>
              <a:t> Yuvanidhi R CB.SC.U4AIE25062</a:t>
            </a:r>
          </a:p>
          <a:p>
            <a:pPr algn="ctr">
              <a:lnSpc>
                <a:spcPts val="3274"/>
              </a:lnSpc>
            </a:pPr>
            <a:r>
              <a:rPr lang="en-US" sz="2518">
                <a:solidFill>
                  <a:srgbClr val="000000"/>
                </a:solidFill>
                <a:latin typeface="Antic Bold"/>
                <a:ea typeface="Antic Bold"/>
                <a:cs typeface="Antic Bold"/>
                <a:sym typeface="Antic Bold"/>
              </a:rPr>
              <a:t>Faculty - Dr. Sandhya S. Pai</a:t>
            </a:r>
          </a:p>
          <a:p>
            <a:pPr algn="ctr">
              <a:lnSpc>
                <a:spcPts val="3274"/>
              </a:lnSpc>
            </a:pPr>
          </a:p>
          <a:p>
            <a:pPr algn="ctr">
              <a:lnSpc>
                <a:spcPts val="3274"/>
              </a:lnSpc>
            </a:pPr>
          </a:p>
          <a:p>
            <a:pPr algn="ctr">
              <a:lnSpc>
                <a:spcPts val="3274"/>
              </a:lnSpc>
            </a:pPr>
          </a:p>
        </p:txBody>
      </p:sp>
      <p:sp>
        <p:nvSpPr>
          <p:cNvPr name="TextBox 13" id="13"/>
          <p:cNvSpPr txBox="true"/>
          <p:nvPr/>
        </p:nvSpPr>
        <p:spPr>
          <a:xfrm rot="0">
            <a:off x="2991146" y="2330056"/>
            <a:ext cx="12956618" cy="3436620"/>
          </a:xfrm>
          <a:prstGeom prst="rect">
            <a:avLst/>
          </a:prstGeom>
        </p:spPr>
        <p:txBody>
          <a:bodyPr anchor="t" rtlCol="false" tIns="0" lIns="0" bIns="0" rIns="0">
            <a:spAutoFit/>
          </a:bodyPr>
          <a:lstStyle/>
          <a:p>
            <a:pPr algn="ctr">
              <a:lnSpc>
                <a:spcPts val="6885"/>
              </a:lnSpc>
            </a:pPr>
            <a:r>
              <a:rPr lang="en-US" sz="5100" spc="152">
                <a:solidFill>
                  <a:srgbClr val="000000"/>
                </a:solidFill>
                <a:latin typeface="TAN Headline"/>
                <a:ea typeface="TAN Headline"/>
                <a:cs typeface="TAN Headline"/>
                <a:sym typeface="TAN Headline"/>
              </a:rPr>
              <a:t>Mood-Based</a:t>
            </a:r>
            <a:r>
              <a:rPr lang="en-US" sz="5100" spc="152">
                <a:solidFill>
                  <a:srgbClr val="000000"/>
                </a:solidFill>
                <a:latin typeface="TAN Headline"/>
                <a:ea typeface="TAN Headline"/>
                <a:cs typeface="TAN Headline"/>
                <a:sym typeface="TAN Headline"/>
              </a:rPr>
              <a:t> </a:t>
            </a:r>
          </a:p>
          <a:p>
            <a:pPr algn="ctr">
              <a:lnSpc>
                <a:spcPts val="6885"/>
              </a:lnSpc>
            </a:pPr>
            <a:r>
              <a:rPr lang="en-US" sz="5100" spc="152">
                <a:solidFill>
                  <a:srgbClr val="000000"/>
                </a:solidFill>
                <a:latin typeface="TAN Headline"/>
                <a:ea typeface="TAN Headline"/>
                <a:cs typeface="TAN Headline"/>
                <a:sym typeface="TAN Headline"/>
              </a:rPr>
              <a:t>Movie Recommender System with SVD</a:t>
            </a:r>
          </a:p>
          <a:p>
            <a:pPr algn="ctr">
              <a:lnSpc>
                <a:spcPts val="6885"/>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10123" y="342456"/>
            <a:ext cx="11122525" cy="9120470"/>
          </a:xfrm>
          <a:custGeom>
            <a:avLst/>
            <a:gdLst/>
            <a:ahLst/>
            <a:cxnLst/>
            <a:rect r="r" b="b" t="t" l="l"/>
            <a:pathLst>
              <a:path h="9120470" w="11122525">
                <a:moveTo>
                  <a:pt x="0" y="0"/>
                </a:moveTo>
                <a:lnTo>
                  <a:pt x="11122525" y="0"/>
                </a:lnTo>
                <a:lnTo>
                  <a:pt x="11122525" y="9120470"/>
                </a:lnTo>
                <a:lnTo>
                  <a:pt x="0" y="9120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39175" y="764582"/>
            <a:ext cx="16230600" cy="712470"/>
          </a:xfrm>
          <a:prstGeom prst="rect">
            <a:avLst/>
          </a:prstGeom>
        </p:spPr>
        <p:txBody>
          <a:bodyPr anchor="t" rtlCol="false" tIns="0" lIns="0" bIns="0" rIns="0">
            <a:spAutoFit/>
          </a:bodyPr>
          <a:lstStyle/>
          <a:p>
            <a:pPr algn="ctr">
              <a:lnSpc>
                <a:spcPts val="5880"/>
              </a:lnSpc>
            </a:pPr>
            <a:r>
              <a:rPr lang="en-US" sz="4200">
                <a:solidFill>
                  <a:srgbClr val="000000"/>
                </a:solidFill>
                <a:latin typeface="TAN Headline"/>
                <a:ea typeface="TAN Headline"/>
                <a:cs typeface="TAN Headline"/>
                <a:sym typeface="TAN Headline"/>
              </a:rPr>
              <a:t>Introduction</a:t>
            </a:r>
          </a:p>
        </p:txBody>
      </p:sp>
      <p:sp>
        <p:nvSpPr>
          <p:cNvPr name="TextBox 4" id="4"/>
          <p:cNvSpPr txBox="true"/>
          <p:nvPr/>
        </p:nvSpPr>
        <p:spPr>
          <a:xfrm rot="0">
            <a:off x="4009785" y="2401245"/>
            <a:ext cx="11122862" cy="5972964"/>
          </a:xfrm>
          <a:prstGeom prst="rect">
            <a:avLst/>
          </a:prstGeom>
        </p:spPr>
        <p:txBody>
          <a:bodyPr anchor="t" rtlCol="false" tIns="0" lIns="0" bIns="0" rIns="0">
            <a:spAutoFit/>
          </a:bodyPr>
          <a:lstStyle/>
          <a:p>
            <a:pPr algn="l" marL="523738" indent="-261869" lvl="1">
              <a:lnSpc>
                <a:spcPts val="3153"/>
              </a:lnSpc>
              <a:buFont typeface="Arial"/>
              <a:buChar char="•"/>
            </a:pPr>
            <a:r>
              <a:rPr lang="en-US" sz="2425">
                <a:solidFill>
                  <a:srgbClr val="000000"/>
                </a:solidFill>
                <a:latin typeface="Antic Bold"/>
                <a:ea typeface="Antic Bold"/>
                <a:cs typeface="Antic Bold"/>
                <a:sym typeface="Antic Bold"/>
              </a:rPr>
              <a:t>The Challenge: </a:t>
            </a:r>
            <a:r>
              <a:rPr lang="en-US" sz="2425">
                <a:solidFill>
                  <a:srgbClr val="000000"/>
                </a:solidFill>
                <a:latin typeface="Antic"/>
                <a:ea typeface="Antic"/>
                <a:cs typeface="Antic"/>
                <a:sym typeface="Antic"/>
              </a:rPr>
              <a:t>In today's digital world, users often struggle to choose what movie to watch because of the huge number of available options. Most existing recommendation systems suggest popular or previously watched movies, which can become repetitive and less engaging. </a:t>
            </a:r>
          </a:p>
          <a:p>
            <a:pPr algn="l">
              <a:lnSpc>
                <a:spcPts val="3153"/>
              </a:lnSpc>
            </a:pPr>
          </a:p>
          <a:p>
            <a:pPr algn="l" marL="523738" indent="-261869" lvl="1">
              <a:lnSpc>
                <a:spcPts val="3153"/>
              </a:lnSpc>
              <a:buFont typeface="Arial"/>
              <a:buChar char="•"/>
            </a:pPr>
            <a:r>
              <a:rPr lang="en-US" sz="2425">
                <a:solidFill>
                  <a:srgbClr val="000000"/>
                </a:solidFill>
                <a:latin typeface="Antic Bold"/>
                <a:ea typeface="Antic Bold"/>
                <a:cs typeface="Antic Bold"/>
                <a:sym typeface="Antic Bold"/>
              </a:rPr>
              <a:t>The Opportunity:</a:t>
            </a:r>
            <a:r>
              <a:rPr lang="en-US" sz="2425">
                <a:solidFill>
                  <a:srgbClr val="000000"/>
                </a:solidFill>
                <a:latin typeface="Antic"/>
                <a:ea typeface="Antic"/>
                <a:cs typeface="Antic"/>
                <a:sym typeface="Antic"/>
              </a:rPr>
              <a:t> Traditional systems ignore a key piece of context: the user's current emotional state. Incorporating mood can lead to more satisfying and personalized suggestions. </a:t>
            </a:r>
          </a:p>
          <a:p>
            <a:pPr algn="l">
              <a:lnSpc>
                <a:spcPts val="3153"/>
              </a:lnSpc>
            </a:pPr>
          </a:p>
          <a:p>
            <a:pPr algn="l" marL="523738" indent="-261869" lvl="1">
              <a:lnSpc>
                <a:spcPts val="3153"/>
              </a:lnSpc>
              <a:buFont typeface="Arial"/>
              <a:buChar char="•"/>
            </a:pPr>
            <a:r>
              <a:rPr lang="en-US" sz="2425">
                <a:solidFill>
                  <a:srgbClr val="000000"/>
                </a:solidFill>
                <a:latin typeface="Antic Bold"/>
                <a:ea typeface="Antic Bold"/>
                <a:cs typeface="Antic Bold"/>
                <a:sym typeface="Antic Bold"/>
              </a:rPr>
              <a:t>Our Solution:</a:t>
            </a:r>
            <a:r>
              <a:rPr lang="en-US" sz="2425">
                <a:solidFill>
                  <a:srgbClr val="000000"/>
                </a:solidFill>
                <a:latin typeface="Antic"/>
                <a:ea typeface="Antic"/>
                <a:cs typeface="Antic"/>
                <a:sym typeface="Antic"/>
              </a:rPr>
              <a:t> This report details a hybrid recommendation system. It first predicts user ratings for movies using a Singular Value Decomposition (SVD) model trained on a user-item rating matrix. Subsequently, it filters these predictions based on the user's selected mood to provide contextually relevant suggestions. </a:t>
            </a:r>
          </a:p>
          <a:p>
            <a:pPr algn="l">
              <a:lnSpc>
                <a:spcPts val="3153"/>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lack Right Arrow"/>
          <p:cNvSpPr/>
          <p:nvPr/>
        </p:nvSpPr>
        <p:spPr>
          <a:xfrm flipH="false" flipV="false" rot="0">
            <a:off x="16308740" y="655017"/>
            <a:ext cx="537813" cy="237616"/>
          </a:xfrm>
          <a:custGeom>
            <a:avLst/>
            <a:gdLst/>
            <a:ahLst/>
            <a:cxnLst/>
            <a:rect r="r" b="b" t="t" l="l"/>
            <a:pathLst>
              <a:path h="237616" w="537813">
                <a:moveTo>
                  <a:pt x="0" y="0"/>
                </a:moveTo>
                <a:lnTo>
                  <a:pt x="537814" y="0"/>
                </a:lnTo>
                <a:lnTo>
                  <a:pt x="537814" y="237616"/>
                </a:lnTo>
                <a:lnTo>
                  <a:pt x="0" y="237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93341" y="2210331"/>
            <a:ext cx="14501319" cy="1181102"/>
          </a:xfrm>
          <a:prstGeom prst="rect">
            <a:avLst/>
          </a:prstGeom>
        </p:spPr>
        <p:txBody>
          <a:bodyPr anchor="t" rtlCol="false" tIns="0" lIns="0" bIns="0" rIns="0">
            <a:spAutoFit/>
          </a:bodyPr>
          <a:lstStyle/>
          <a:p>
            <a:pPr algn="ctr" marL="0" indent="0" lvl="0">
              <a:lnSpc>
                <a:spcPts val="8925"/>
              </a:lnSpc>
            </a:pPr>
            <a:r>
              <a:rPr lang="en-US" sz="8500">
                <a:solidFill>
                  <a:srgbClr val="000000"/>
                </a:solidFill>
                <a:latin typeface="TAN Headline"/>
                <a:ea typeface="TAN Headline"/>
                <a:cs typeface="TAN Headline"/>
                <a:sym typeface="TAN Headline"/>
              </a:rPr>
              <a:t>Objectives</a:t>
            </a:r>
          </a:p>
        </p:txBody>
      </p:sp>
      <p:sp>
        <p:nvSpPr>
          <p:cNvPr name="AutoShape 4" id="4"/>
          <p:cNvSpPr/>
          <p:nvPr/>
        </p:nvSpPr>
        <p:spPr>
          <a:xfrm>
            <a:off x="1249709" y="4234919"/>
            <a:ext cx="15788583"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574578" y="5951897"/>
            <a:ext cx="3752947" cy="29203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Antic"/>
                <a:ea typeface="Antic"/>
                <a:cs typeface="Antic"/>
                <a:sym typeface="Antic"/>
              </a:rPr>
              <a:t>To identify the user’s mood by asking simple questions or letting them select from mood options, so recommendations match how they feel.</a:t>
            </a:r>
          </a:p>
        </p:txBody>
      </p:sp>
      <p:sp>
        <p:nvSpPr>
          <p:cNvPr name="TextBox 6" id="6"/>
          <p:cNvSpPr txBox="true"/>
          <p:nvPr/>
        </p:nvSpPr>
        <p:spPr>
          <a:xfrm rot="0">
            <a:off x="9490075" y="5951897"/>
            <a:ext cx="3752947" cy="26130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Antic"/>
                <a:ea typeface="Antic"/>
                <a:cs typeface="Antic"/>
                <a:sym typeface="Antic"/>
              </a:rPr>
              <a:t>To combine mood information with mathematical models to give more accurate and personalized movie suggestions.</a:t>
            </a:r>
          </a:p>
        </p:txBody>
      </p:sp>
      <p:sp>
        <p:nvSpPr>
          <p:cNvPr name="TextBox 7" id="7"/>
          <p:cNvSpPr txBox="true"/>
          <p:nvPr/>
        </p:nvSpPr>
        <p:spPr>
          <a:xfrm rot="0">
            <a:off x="5032278" y="5951897"/>
            <a:ext cx="3752947" cy="26130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Antic"/>
                <a:ea typeface="Antic"/>
                <a:cs typeface="Antic"/>
                <a:sym typeface="Antic"/>
              </a:rPr>
              <a:t>To use SVD (Singular Value Decomposition) to find hidden patterns in user ratings and movie preferences for better predictions.</a:t>
            </a:r>
          </a:p>
        </p:txBody>
      </p:sp>
      <p:sp>
        <p:nvSpPr>
          <p:cNvPr name="TextBox 8" id="8"/>
          <p:cNvSpPr txBox="true"/>
          <p:nvPr/>
        </p:nvSpPr>
        <p:spPr>
          <a:xfrm rot="0">
            <a:off x="13947775" y="5951897"/>
            <a:ext cx="3752947" cy="30511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Antic"/>
                <a:ea typeface="Antic"/>
                <a:cs typeface="Antic"/>
                <a:sym typeface="Antic"/>
              </a:rPr>
              <a:t>To measure the system’s performance using metrics like RMSE, precision, and recall to ensure good recommendation quality.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10527" y="6784630"/>
            <a:ext cx="7548773" cy="2470934"/>
            <a:chOff x="0" y="0"/>
            <a:chExt cx="1988154" cy="650781"/>
          </a:xfrm>
        </p:grpSpPr>
        <p:sp>
          <p:nvSpPr>
            <p:cNvPr name="Freeform 3" id="3"/>
            <p:cNvSpPr/>
            <p:nvPr/>
          </p:nvSpPr>
          <p:spPr>
            <a:xfrm flipH="false" flipV="false" rot="0">
              <a:off x="0" y="0"/>
              <a:ext cx="1988154" cy="650781"/>
            </a:xfrm>
            <a:custGeom>
              <a:avLst/>
              <a:gdLst/>
              <a:ahLst/>
              <a:cxnLst/>
              <a:rect r="r" b="b" t="t" l="l"/>
              <a:pathLst>
                <a:path h="650781" w="1988154">
                  <a:moveTo>
                    <a:pt x="0" y="0"/>
                  </a:moveTo>
                  <a:lnTo>
                    <a:pt x="1988154" y="0"/>
                  </a:lnTo>
                  <a:lnTo>
                    <a:pt x="1988154" y="650781"/>
                  </a:lnTo>
                  <a:lnTo>
                    <a:pt x="0" y="650781"/>
                  </a:lnTo>
                  <a:close/>
                </a:path>
              </a:pathLst>
            </a:custGeom>
            <a:solidFill>
              <a:srgbClr val="FFFFFF"/>
            </a:solidFill>
          </p:spPr>
        </p:sp>
        <p:sp>
          <p:nvSpPr>
            <p:cNvPr name="TextBox 4" id="4"/>
            <p:cNvSpPr txBox="true"/>
            <p:nvPr/>
          </p:nvSpPr>
          <p:spPr>
            <a:xfrm>
              <a:off x="0" y="-28575"/>
              <a:ext cx="1988154" cy="679356"/>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1361085" y="3405034"/>
            <a:ext cx="7548773" cy="2741386"/>
            <a:chOff x="0" y="0"/>
            <a:chExt cx="1988154" cy="722011"/>
          </a:xfrm>
        </p:grpSpPr>
        <p:sp>
          <p:nvSpPr>
            <p:cNvPr name="Freeform 6" id="6"/>
            <p:cNvSpPr/>
            <p:nvPr/>
          </p:nvSpPr>
          <p:spPr>
            <a:xfrm flipH="false" flipV="false" rot="0">
              <a:off x="0" y="0"/>
              <a:ext cx="1988154" cy="722011"/>
            </a:xfrm>
            <a:custGeom>
              <a:avLst/>
              <a:gdLst/>
              <a:ahLst/>
              <a:cxnLst/>
              <a:rect r="r" b="b" t="t" l="l"/>
              <a:pathLst>
                <a:path h="722011" w="1988154">
                  <a:moveTo>
                    <a:pt x="0" y="0"/>
                  </a:moveTo>
                  <a:lnTo>
                    <a:pt x="1988154" y="0"/>
                  </a:lnTo>
                  <a:lnTo>
                    <a:pt x="1988154" y="722011"/>
                  </a:lnTo>
                  <a:lnTo>
                    <a:pt x="0" y="722011"/>
                  </a:lnTo>
                  <a:close/>
                </a:path>
              </a:pathLst>
            </a:custGeom>
            <a:solidFill>
              <a:srgbClr val="FFFFFF"/>
            </a:solidFill>
          </p:spPr>
        </p:sp>
        <p:sp>
          <p:nvSpPr>
            <p:cNvPr name="TextBox 7" id="7"/>
            <p:cNvSpPr txBox="true"/>
            <p:nvPr/>
          </p:nvSpPr>
          <p:spPr>
            <a:xfrm>
              <a:off x="0" y="-28575"/>
              <a:ext cx="1988154" cy="750586"/>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0">
            <a:off x="-430816" y="1028700"/>
            <a:ext cx="19027773" cy="1708150"/>
            <a:chOff x="0" y="0"/>
            <a:chExt cx="5011430" cy="449883"/>
          </a:xfrm>
        </p:grpSpPr>
        <p:sp>
          <p:nvSpPr>
            <p:cNvPr name="Freeform 9" id="9"/>
            <p:cNvSpPr/>
            <p:nvPr/>
          </p:nvSpPr>
          <p:spPr>
            <a:xfrm flipH="false" flipV="false" rot="0">
              <a:off x="0" y="0"/>
              <a:ext cx="5011430" cy="449883"/>
            </a:xfrm>
            <a:custGeom>
              <a:avLst/>
              <a:gdLst/>
              <a:ahLst/>
              <a:cxnLst/>
              <a:rect r="r" b="b" t="t" l="l"/>
              <a:pathLst>
                <a:path h="449883" w="5011430">
                  <a:moveTo>
                    <a:pt x="0" y="0"/>
                  </a:moveTo>
                  <a:lnTo>
                    <a:pt x="5011430" y="0"/>
                  </a:lnTo>
                  <a:lnTo>
                    <a:pt x="5011430" y="449883"/>
                  </a:lnTo>
                  <a:lnTo>
                    <a:pt x="0" y="449883"/>
                  </a:lnTo>
                  <a:close/>
                </a:path>
              </a:pathLst>
            </a:custGeom>
            <a:solidFill>
              <a:srgbClr val="000000"/>
            </a:solidFill>
          </p:spPr>
        </p:sp>
        <p:sp>
          <p:nvSpPr>
            <p:cNvPr name="TextBox 10" id="10"/>
            <p:cNvSpPr txBox="true"/>
            <p:nvPr/>
          </p:nvSpPr>
          <p:spPr>
            <a:xfrm>
              <a:off x="0" y="-28575"/>
              <a:ext cx="5011430" cy="478458"/>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0">
            <a:off x="1028700" y="6784630"/>
            <a:ext cx="7548773" cy="2470934"/>
            <a:chOff x="0" y="0"/>
            <a:chExt cx="1988154" cy="650781"/>
          </a:xfrm>
        </p:grpSpPr>
        <p:sp>
          <p:nvSpPr>
            <p:cNvPr name="Freeform 12" id="12"/>
            <p:cNvSpPr/>
            <p:nvPr/>
          </p:nvSpPr>
          <p:spPr>
            <a:xfrm flipH="false" flipV="false" rot="0">
              <a:off x="0" y="0"/>
              <a:ext cx="1988154" cy="650781"/>
            </a:xfrm>
            <a:custGeom>
              <a:avLst/>
              <a:gdLst/>
              <a:ahLst/>
              <a:cxnLst/>
              <a:rect r="r" b="b" t="t" l="l"/>
              <a:pathLst>
                <a:path h="650781" w="1988154">
                  <a:moveTo>
                    <a:pt x="0" y="0"/>
                  </a:moveTo>
                  <a:lnTo>
                    <a:pt x="1988154" y="0"/>
                  </a:lnTo>
                  <a:lnTo>
                    <a:pt x="1988154" y="650781"/>
                  </a:lnTo>
                  <a:lnTo>
                    <a:pt x="0" y="650781"/>
                  </a:lnTo>
                  <a:close/>
                </a:path>
              </a:pathLst>
            </a:custGeom>
            <a:solidFill>
              <a:srgbClr val="FFFFFF"/>
            </a:solidFill>
          </p:spPr>
        </p:sp>
        <p:sp>
          <p:nvSpPr>
            <p:cNvPr name="TextBox 13" id="13"/>
            <p:cNvSpPr txBox="true"/>
            <p:nvPr/>
          </p:nvSpPr>
          <p:spPr>
            <a:xfrm>
              <a:off x="0" y="-28575"/>
              <a:ext cx="1988154" cy="679356"/>
            </a:xfrm>
            <a:prstGeom prst="rect">
              <a:avLst/>
            </a:prstGeom>
          </p:spPr>
          <p:txBody>
            <a:bodyPr anchor="ctr" rtlCol="false" tIns="50800" lIns="50800" bIns="50800" rIns="50800"/>
            <a:lstStyle/>
            <a:p>
              <a:pPr algn="ctr">
                <a:lnSpc>
                  <a:spcPts val="1960"/>
                </a:lnSpc>
              </a:pPr>
            </a:p>
          </p:txBody>
        </p:sp>
      </p:grpSp>
      <p:grpSp>
        <p:nvGrpSpPr>
          <p:cNvPr name="Group 14" id="14"/>
          <p:cNvGrpSpPr/>
          <p:nvPr/>
        </p:nvGrpSpPr>
        <p:grpSpPr>
          <a:xfrm rot="0">
            <a:off x="1361085" y="4241214"/>
            <a:ext cx="1062965" cy="1062965"/>
            <a:chOff x="0" y="0"/>
            <a:chExt cx="1417287" cy="1417287"/>
          </a:xfrm>
        </p:grpSpPr>
        <p:grpSp>
          <p:nvGrpSpPr>
            <p:cNvPr name="Group 15" id="15"/>
            <p:cNvGrpSpPr/>
            <p:nvPr/>
          </p:nvGrpSpPr>
          <p:grpSpPr>
            <a:xfrm rot="0">
              <a:off x="0" y="0"/>
              <a:ext cx="1417287" cy="141728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7" id="17"/>
              <p:cNvSpPr txBox="true"/>
              <p:nvPr/>
            </p:nvSpPr>
            <p:spPr>
              <a:xfrm>
                <a:off x="76200" y="47625"/>
                <a:ext cx="660400" cy="688975"/>
              </a:xfrm>
              <a:prstGeom prst="rect">
                <a:avLst/>
              </a:prstGeom>
            </p:spPr>
            <p:txBody>
              <a:bodyPr anchor="ctr" rtlCol="false" tIns="50800" lIns="50800" bIns="50800" rIns="50800"/>
              <a:lstStyle/>
              <a:p>
                <a:pPr algn="ctr">
                  <a:lnSpc>
                    <a:spcPts val="1959"/>
                  </a:lnSpc>
                </a:pPr>
              </a:p>
            </p:txBody>
          </p:sp>
        </p:grpSp>
        <p:sp>
          <p:nvSpPr>
            <p:cNvPr name="TextBox 18" id="18"/>
            <p:cNvSpPr txBox="true"/>
            <p:nvPr/>
          </p:nvSpPr>
          <p:spPr>
            <a:xfrm rot="0">
              <a:off x="326427" y="152642"/>
              <a:ext cx="764433" cy="1049674"/>
            </a:xfrm>
            <a:prstGeom prst="rect">
              <a:avLst/>
            </a:prstGeom>
          </p:spPr>
          <p:txBody>
            <a:bodyPr anchor="t" rtlCol="false" tIns="0" lIns="0" bIns="0" rIns="0">
              <a:spAutoFit/>
            </a:bodyPr>
            <a:lstStyle/>
            <a:p>
              <a:pPr algn="ctr">
                <a:lnSpc>
                  <a:spcPts val="6689"/>
                </a:lnSpc>
              </a:pPr>
              <a:r>
                <a:rPr lang="en-US" sz="4778">
                  <a:solidFill>
                    <a:srgbClr val="FFFFFF"/>
                  </a:solidFill>
                  <a:latin typeface="TAN Headline"/>
                  <a:ea typeface="TAN Headline"/>
                  <a:cs typeface="TAN Headline"/>
                  <a:sym typeface="TAN Headline"/>
                </a:rPr>
                <a:t>1</a:t>
              </a:r>
            </a:p>
          </p:txBody>
        </p:sp>
      </p:grpSp>
      <p:grpSp>
        <p:nvGrpSpPr>
          <p:cNvPr name="Group 19" id="19"/>
          <p:cNvGrpSpPr/>
          <p:nvPr/>
        </p:nvGrpSpPr>
        <p:grpSpPr>
          <a:xfrm rot="0">
            <a:off x="1361085" y="7488614"/>
            <a:ext cx="1062965" cy="1062965"/>
            <a:chOff x="0" y="0"/>
            <a:chExt cx="1417287" cy="1417287"/>
          </a:xfrm>
        </p:grpSpPr>
        <p:grpSp>
          <p:nvGrpSpPr>
            <p:cNvPr name="Group 20" id="20"/>
            <p:cNvGrpSpPr/>
            <p:nvPr/>
          </p:nvGrpSpPr>
          <p:grpSpPr>
            <a:xfrm rot="0">
              <a:off x="0" y="0"/>
              <a:ext cx="1417287" cy="141728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a:lnSpc>
                    <a:spcPts val="1959"/>
                  </a:lnSpc>
                </a:pPr>
              </a:p>
            </p:txBody>
          </p:sp>
        </p:grpSp>
        <p:sp>
          <p:nvSpPr>
            <p:cNvPr name="TextBox 23" id="23"/>
            <p:cNvSpPr txBox="true"/>
            <p:nvPr/>
          </p:nvSpPr>
          <p:spPr>
            <a:xfrm rot="0">
              <a:off x="326427" y="164341"/>
              <a:ext cx="764433" cy="1049674"/>
            </a:xfrm>
            <a:prstGeom prst="rect">
              <a:avLst/>
            </a:prstGeom>
          </p:spPr>
          <p:txBody>
            <a:bodyPr anchor="t" rtlCol="false" tIns="0" lIns="0" bIns="0" rIns="0">
              <a:spAutoFit/>
            </a:bodyPr>
            <a:lstStyle/>
            <a:p>
              <a:pPr algn="ctr">
                <a:lnSpc>
                  <a:spcPts val="6689"/>
                </a:lnSpc>
              </a:pPr>
              <a:r>
                <a:rPr lang="en-US" sz="4778">
                  <a:solidFill>
                    <a:srgbClr val="FFFFFF"/>
                  </a:solidFill>
                  <a:latin typeface="TAN Headline"/>
                  <a:ea typeface="TAN Headline"/>
                  <a:cs typeface="TAN Headline"/>
                  <a:sym typeface="TAN Headline"/>
                </a:rPr>
                <a:t>3</a:t>
              </a:r>
            </a:p>
          </p:txBody>
        </p:sp>
      </p:grpSp>
      <p:grpSp>
        <p:nvGrpSpPr>
          <p:cNvPr name="Group 24" id="24"/>
          <p:cNvGrpSpPr/>
          <p:nvPr/>
        </p:nvGrpSpPr>
        <p:grpSpPr>
          <a:xfrm rot="0">
            <a:off x="10092250" y="7488614"/>
            <a:ext cx="1062965" cy="1062965"/>
            <a:chOff x="0" y="0"/>
            <a:chExt cx="1417287" cy="1417287"/>
          </a:xfrm>
        </p:grpSpPr>
        <p:grpSp>
          <p:nvGrpSpPr>
            <p:cNvPr name="Group 25" id="25"/>
            <p:cNvGrpSpPr/>
            <p:nvPr/>
          </p:nvGrpSpPr>
          <p:grpSpPr>
            <a:xfrm rot="0">
              <a:off x="0" y="0"/>
              <a:ext cx="1417287" cy="141728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7" id="27"/>
              <p:cNvSpPr txBox="true"/>
              <p:nvPr/>
            </p:nvSpPr>
            <p:spPr>
              <a:xfrm>
                <a:off x="76200" y="47625"/>
                <a:ext cx="660400" cy="688975"/>
              </a:xfrm>
              <a:prstGeom prst="rect">
                <a:avLst/>
              </a:prstGeom>
            </p:spPr>
            <p:txBody>
              <a:bodyPr anchor="ctr" rtlCol="false" tIns="50800" lIns="50800" bIns="50800" rIns="50800"/>
              <a:lstStyle/>
              <a:p>
                <a:pPr algn="ctr">
                  <a:lnSpc>
                    <a:spcPts val="1959"/>
                  </a:lnSpc>
                </a:pPr>
              </a:p>
            </p:txBody>
          </p:sp>
        </p:grpSp>
        <p:sp>
          <p:nvSpPr>
            <p:cNvPr name="TextBox 28" id="28"/>
            <p:cNvSpPr txBox="true"/>
            <p:nvPr/>
          </p:nvSpPr>
          <p:spPr>
            <a:xfrm rot="0">
              <a:off x="326427" y="140944"/>
              <a:ext cx="764433" cy="1049674"/>
            </a:xfrm>
            <a:prstGeom prst="rect">
              <a:avLst/>
            </a:prstGeom>
          </p:spPr>
          <p:txBody>
            <a:bodyPr anchor="t" rtlCol="false" tIns="0" lIns="0" bIns="0" rIns="0">
              <a:spAutoFit/>
            </a:bodyPr>
            <a:lstStyle/>
            <a:p>
              <a:pPr algn="ctr">
                <a:lnSpc>
                  <a:spcPts val="6689"/>
                </a:lnSpc>
              </a:pPr>
              <a:r>
                <a:rPr lang="en-US" sz="4778">
                  <a:solidFill>
                    <a:srgbClr val="FFFFFF"/>
                  </a:solidFill>
                  <a:latin typeface="TAN Headline"/>
                  <a:ea typeface="TAN Headline"/>
                  <a:cs typeface="TAN Headline"/>
                  <a:sym typeface="TAN Headline"/>
                </a:rPr>
                <a:t>4</a:t>
              </a:r>
            </a:p>
          </p:txBody>
        </p:sp>
      </p:grpSp>
      <p:grpSp>
        <p:nvGrpSpPr>
          <p:cNvPr name="Group 29" id="29"/>
          <p:cNvGrpSpPr/>
          <p:nvPr/>
        </p:nvGrpSpPr>
        <p:grpSpPr>
          <a:xfrm rot="0">
            <a:off x="9710527" y="3877265"/>
            <a:ext cx="7548773" cy="2470934"/>
            <a:chOff x="0" y="0"/>
            <a:chExt cx="1988154" cy="650781"/>
          </a:xfrm>
        </p:grpSpPr>
        <p:sp>
          <p:nvSpPr>
            <p:cNvPr name="Freeform 30" id="30"/>
            <p:cNvSpPr/>
            <p:nvPr/>
          </p:nvSpPr>
          <p:spPr>
            <a:xfrm flipH="false" flipV="false" rot="0">
              <a:off x="0" y="0"/>
              <a:ext cx="1988154" cy="650781"/>
            </a:xfrm>
            <a:custGeom>
              <a:avLst/>
              <a:gdLst/>
              <a:ahLst/>
              <a:cxnLst/>
              <a:rect r="r" b="b" t="t" l="l"/>
              <a:pathLst>
                <a:path h="650781" w="1988154">
                  <a:moveTo>
                    <a:pt x="0" y="0"/>
                  </a:moveTo>
                  <a:lnTo>
                    <a:pt x="1988154" y="0"/>
                  </a:lnTo>
                  <a:lnTo>
                    <a:pt x="1988154" y="650781"/>
                  </a:lnTo>
                  <a:lnTo>
                    <a:pt x="0" y="650781"/>
                  </a:lnTo>
                  <a:close/>
                </a:path>
              </a:pathLst>
            </a:custGeom>
            <a:solidFill>
              <a:srgbClr val="FFFFFF"/>
            </a:solidFill>
          </p:spPr>
        </p:sp>
        <p:sp>
          <p:nvSpPr>
            <p:cNvPr name="TextBox 31" id="31"/>
            <p:cNvSpPr txBox="true"/>
            <p:nvPr/>
          </p:nvSpPr>
          <p:spPr>
            <a:xfrm>
              <a:off x="0" y="-28575"/>
              <a:ext cx="1988154" cy="679356"/>
            </a:xfrm>
            <a:prstGeom prst="rect">
              <a:avLst/>
            </a:prstGeom>
          </p:spPr>
          <p:txBody>
            <a:bodyPr anchor="ctr" rtlCol="false" tIns="50800" lIns="50800" bIns="50800" rIns="50800"/>
            <a:lstStyle/>
            <a:p>
              <a:pPr algn="ctr">
                <a:lnSpc>
                  <a:spcPts val="1960"/>
                </a:lnSpc>
              </a:pPr>
            </a:p>
          </p:txBody>
        </p:sp>
      </p:grpSp>
      <p:grpSp>
        <p:nvGrpSpPr>
          <p:cNvPr name="Group 32" id="32"/>
          <p:cNvGrpSpPr/>
          <p:nvPr/>
        </p:nvGrpSpPr>
        <p:grpSpPr>
          <a:xfrm rot="0">
            <a:off x="10092250" y="4241214"/>
            <a:ext cx="1062965" cy="1062965"/>
            <a:chOff x="0" y="0"/>
            <a:chExt cx="1417287" cy="1417287"/>
          </a:xfrm>
        </p:grpSpPr>
        <p:grpSp>
          <p:nvGrpSpPr>
            <p:cNvPr name="Group 33" id="33"/>
            <p:cNvGrpSpPr/>
            <p:nvPr/>
          </p:nvGrpSpPr>
          <p:grpSpPr>
            <a:xfrm rot="0">
              <a:off x="0" y="0"/>
              <a:ext cx="1417287" cy="141728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5" id="35"/>
              <p:cNvSpPr txBox="true"/>
              <p:nvPr/>
            </p:nvSpPr>
            <p:spPr>
              <a:xfrm>
                <a:off x="76200" y="47625"/>
                <a:ext cx="660400" cy="688975"/>
              </a:xfrm>
              <a:prstGeom prst="rect">
                <a:avLst/>
              </a:prstGeom>
            </p:spPr>
            <p:txBody>
              <a:bodyPr anchor="ctr" rtlCol="false" tIns="50800" lIns="50800" bIns="50800" rIns="50800"/>
              <a:lstStyle/>
              <a:p>
                <a:pPr algn="ctr">
                  <a:lnSpc>
                    <a:spcPts val="1959"/>
                  </a:lnSpc>
                </a:pPr>
              </a:p>
            </p:txBody>
          </p:sp>
        </p:grpSp>
        <p:sp>
          <p:nvSpPr>
            <p:cNvPr name="TextBox 36" id="36"/>
            <p:cNvSpPr txBox="true"/>
            <p:nvPr/>
          </p:nvSpPr>
          <p:spPr>
            <a:xfrm rot="0">
              <a:off x="326427" y="152642"/>
              <a:ext cx="764433" cy="1049674"/>
            </a:xfrm>
            <a:prstGeom prst="rect">
              <a:avLst/>
            </a:prstGeom>
          </p:spPr>
          <p:txBody>
            <a:bodyPr anchor="t" rtlCol="false" tIns="0" lIns="0" bIns="0" rIns="0">
              <a:spAutoFit/>
            </a:bodyPr>
            <a:lstStyle/>
            <a:p>
              <a:pPr algn="ctr">
                <a:lnSpc>
                  <a:spcPts val="6689"/>
                </a:lnSpc>
              </a:pPr>
              <a:r>
                <a:rPr lang="en-US" sz="4778">
                  <a:solidFill>
                    <a:srgbClr val="FFFFFF"/>
                  </a:solidFill>
                  <a:latin typeface="TAN Headline"/>
                  <a:ea typeface="TAN Headline"/>
                  <a:cs typeface="TAN Headline"/>
                  <a:sym typeface="TAN Headline"/>
                </a:rPr>
                <a:t>2</a:t>
              </a:r>
            </a:p>
          </p:txBody>
        </p:sp>
      </p:grpSp>
      <p:sp>
        <p:nvSpPr>
          <p:cNvPr name="TextBox 37" id="37"/>
          <p:cNvSpPr txBox="true"/>
          <p:nvPr/>
        </p:nvSpPr>
        <p:spPr>
          <a:xfrm rot="0">
            <a:off x="3601402" y="1236980"/>
            <a:ext cx="10963336" cy="1167765"/>
          </a:xfrm>
          <a:prstGeom prst="rect">
            <a:avLst/>
          </a:prstGeom>
        </p:spPr>
        <p:txBody>
          <a:bodyPr anchor="t" rtlCol="false" tIns="0" lIns="0" bIns="0" rIns="0">
            <a:spAutoFit/>
          </a:bodyPr>
          <a:lstStyle/>
          <a:p>
            <a:pPr algn="ctr">
              <a:lnSpc>
                <a:spcPts val="9660"/>
              </a:lnSpc>
            </a:pPr>
            <a:r>
              <a:rPr lang="en-US" sz="6900">
                <a:solidFill>
                  <a:srgbClr val="FFFFFF"/>
                </a:solidFill>
                <a:latin typeface="TAN Headline"/>
                <a:ea typeface="TAN Headline"/>
                <a:cs typeface="TAN Headline"/>
                <a:sym typeface="TAN Headline"/>
              </a:rPr>
              <a:t>Methodology</a:t>
            </a:r>
          </a:p>
        </p:txBody>
      </p:sp>
      <p:sp>
        <p:nvSpPr>
          <p:cNvPr name="TextBox 38" id="38"/>
          <p:cNvSpPr txBox="true"/>
          <p:nvPr/>
        </p:nvSpPr>
        <p:spPr>
          <a:xfrm rot="0">
            <a:off x="2683336" y="4153853"/>
            <a:ext cx="5278224" cy="2341245"/>
          </a:xfrm>
          <a:prstGeom prst="rect">
            <a:avLst/>
          </a:prstGeom>
        </p:spPr>
        <p:txBody>
          <a:bodyPr anchor="t" rtlCol="false" tIns="0" lIns="0" bIns="0" rIns="0">
            <a:spAutoFit/>
          </a:bodyPr>
          <a:lstStyle/>
          <a:p>
            <a:pPr algn="l">
              <a:lnSpc>
                <a:spcPts val="3119"/>
              </a:lnSpc>
            </a:pPr>
            <a:r>
              <a:rPr lang="en-US" sz="2399">
                <a:solidFill>
                  <a:srgbClr val="000000"/>
                </a:solidFill>
                <a:latin typeface="Antic Bold"/>
                <a:ea typeface="Antic Bold"/>
                <a:cs typeface="Antic Bold"/>
                <a:sym typeface="Antic Bold"/>
              </a:rPr>
              <a:t>User Input</a:t>
            </a:r>
          </a:p>
          <a:p>
            <a:pPr algn="l">
              <a:lnSpc>
                <a:spcPts val="3119"/>
              </a:lnSpc>
            </a:pPr>
            <a:r>
              <a:rPr lang="en-US" sz="2399">
                <a:solidFill>
                  <a:srgbClr val="000000"/>
                </a:solidFill>
                <a:latin typeface="Antic"/>
                <a:ea typeface="Antic"/>
                <a:cs typeface="Antic"/>
                <a:sym typeface="Antic"/>
              </a:rPr>
              <a:t>User l</a:t>
            </a:r>
            <a:r>
              <a:rPr lang="en-US" sz="2399">
                <a:solidFill>
                  <a:srgbClr val="000000"/>
                </a:solidFill>
                <a:latin typeface="Antic"/>
                <a:ea typeface="Antic"/>
                <a:cs typeface="Antic"/>
                <a:sym typeface="Antic"/>
              </a:rPr>
              <a:t>ogs in and enters their current mood.</a:t>
            </a:r>
          </a:p>
          <a:p>
            <a:pPr algn="l">
              <a:lnSpc>
                <a:spcPts val="3119"/>
              </a:lnSpc>
            </a:pPr>
            <a:r>
              <a:rPr lang="en-US" sz="2399">
                <a:solidFill>
                  <a:srgbClr val="000000"/>
                </a:solidFill>
                <a:latin typeface="Antic"/>
                <a:ea typeface="Antic"/>
                <a:cs typeface="Antic"/>
                <a:sym typeface="Antic"/>
              </a:rPr>
              <a:t>Optionally adds favorite actor or preferred genre for personalized results.</a:t>
            </a:r>
          </a:p>
          <a:p>
            <a:pPr algn="l">
              <a:lnSpc>
                <a:spcPts val="3119"/>
              </a:lnSpc>
            </a:pPr>
          </a:p>
        </p:txBody>
      </p:sp>
      <p:sp>
        <p:nvSpPr>
          <p:cNvPr name="TextBox 39" id="39"/>
          <p:cNvSpPr txBox="true"/>
          <p:nvPr/>
        </p:nvSpPr>
        <p:spPr>
          <a:xfrm rot="0">
            <a:off x="2683336" y="7460039"/>
            <a:ext cx="5658550" cy="1281430"/>
          </a:xfrm>
          <a:prstGeom prst="rect">
            <a:avLst/>
          </a:prstGeom>
        </p:spPr>
        <p:txBody>
          <a:bodyPr anchor="t" rtlCol="false" tIns="0" lIns="0" bIns="0" rIns="0">
            <a:spAutoFit/>
          </a:bodyPr>
          <a:lstStyle/>
          <a:p>
            <a:pPr algn="l">
              <a:lnSpc>
                <a:spcPts val="3380"/>
              </a:lnSpc>
            </a:pPr>
            <a:r>
              <a:rPr lang="en-US" sz="2600">
                <a:solidFill>
                  <a:srgbClr val="000000"/>
                </a:solidFill>
                <a:latin typeface="Antic Bold"/>
                <a:ea typeface="Antic Bold"/>
                <a:cs typeface="Antic Bold"/>
                <a:sym typeface="Antic Bold"/>
              </a:rPr>
              <a:t>Movie Recommendation</a:t>
            </a:r>
          </a:p>
          <a:p>
            <a:pPr algn="l">
              <a:lnSpc>
                <a:spcPts val="3380"/>
              </a:lnSpc>
            </a:pPr>
            <a:r>
              <a:rPr lang="en-US" sz="2600">
                <a:solidFill>
                  <a:srgbClr val="000000"/>
                </a:solidFill>
                <a:latin typeface="Antic"/>
                <a:ea typeface="Antic"/>
                <a:cs typeface="Antic"/>
                <a:sym typeface="Antic"/>
              </a:rPr>
              <a:t>Recommends movies that best match the user’s mood and preferences</a:t>
            </a:r>
          </a:p>
        </p:txBody>
      </p:sp>
      <p:sp>
        <p:nvSpPr>
          <p:cNvPr name="TextBox 40" id="40"/>
          <p:cNvSpPr txBox="true"/>
          <p:nvPr/>
        </p:nvSpPr>
        <p:spPr>
          <a:xfrm rot="0">
            <a:off x="11527328" y="7460039"/>
            <a:ext cx="5278224" cy="2806700"/>
          </a:xfrm>
          <a:prstGeom prst="rect">
            <a:avLst/>
          </a:prstGeom>
        </p:spPr>
        <p:txBody>
          <a:bodyPr anchor="t" rtlCol="false" tIns="0" lIns="0" bIns="0" rIns="0">
            <a:spAutoFit/>
          </a:bodyPr>
          <a:lstStyle/>
          <a:p>
            <a:pPr algn="l">
              <a:lnSpc>
                <a:spcPts val="3120"/>
              </a:lnSpc>
            </a:pPr>
            <a:r>
              <a:rPr lang="en-US" sz="2400">
                <a:solidFill>
                  <a:srgbClr val="000000"/>
                </a:solidFill>
                <a:latin typeface="Antic Bold"/>
                <a:ea typeface="Antic Bold"/>
                <a:cs typeface="Antic Bold"/>
                <a:sym typeface="Antic Bold"/>
              </a:rPr>
              <a:t>User Feedback</a:t>
            </a:r>
          </a:p>
          <a:p>
            <a:pPr algn="l">
              <a:lnSpc>
                <a:spcPts val="3120"/>
              </a:lnSpc>
            </a:pPr>
            <a:r>
              <a:rPr lang="en-US" sz="2400">
                <a:solidFill>
                  <a:srgbClr val="000000"/>
                </a:solidFill>
                <a:latin typeface="Antic"/>
                <a:ea typeface="Antic"/>
                <a:cs typeface="Antic"/>
                <a:sym typeface="Antic"/>
              </a:rPr>
              <a:t>User can like or dislike the recommendation and </a:t>
            </a:r>
          </a:p>
          <a:p>
            <a:pPr algn="l">
              <a:lnSpc>
                <a:spcPts val="3120"/>
              </a:lnSpc>
            </a:pPr>
            <a:r>
              <a:rPr lang="en-US" sz="2400">
                <a:solidFill>
                  <a:srgbClr val="000000"/>
                </a:solidFill>
                <a:latin typeface="Antic"/>
                <a:ea typeface="Antic"/>
                <a:cs typeface="Antic"/>
                <a:sym typeface="Antic"/>
              </a:rPr>
              <a:t>feedback is stored and used to improve future recommendations</a:t>
            </a:r>
          </a:p>
          <a:p>
            <a:pPr algn="l">
              <a:lnSpc>
                <a:spcPts val="3380"/>
              </a:lnSpc>
            </a:pPr>
          </a:p>
          <a:p>
            <a:pPr algn="l">
              <a:lnSpc>
                <a:spcPts val="3380"/>
              </a:lnSpc>
            </a:pPr>
          </a:p>
        </p:txBody>
      </p:sp>
      <p:sp>
        <p:nvSpPr>
          <p:cNvPr name="TextBox 41" id="41"/>
          <p:cNvSpPr txBox="true"/>
          <p:nvPr/>
        </p:nvSpPr>
        <p:spPr>
          <a:xfrm rot="0">
            <a:off x="11527328" y="4153853"/>
            <a:ext cx="5278224" cy="1950720"/>
          </a:xfrm>
          <a:prstGeom prst="rect">
            <a:avLst/>
          </a:prstGeom>
        </p:spPr>
        <p:txBody>
          <a:bodyPr anchor="t" rtlCol="false" tIns="0" lIns="0" bIns="0" rIns="0">
            <a:spAutoFit/>
          </a:bodyPr>
          <a:lstStyle/>
          <a:p>
            <a:pPr algn="l">
              <a:lnSpc>
                <a:spcPts val="3120"/>
              </a:lnSpc>
            </a:pPr>
            <a:r>
              <a:rPr lang="en-US" sz="2400">
                <a:solidFill>
                  <a:srgbClr val="000000"/>
                </a:solidFill>
                <a:latin typeface="Antic Bold"/>
                <a:ea typeface="Antic Bold"/>
                <a:cs typeface="Antic Bold"/>
                <a:sym typeface="Antic Bold"/>
              </a:rPr>
              <a:t>Data Processing</a:t>
            </a:r>
          </a:p>
          <a:p>
            <a:pPr algn="l">
              <a:lnSpc>
                <a:spcPts val="3120"/>
              </a:lnSpc>
            </a:pPr>
            <a:r>
              <a:rPr lang="en-US" sz="2400">
                <a:solidFill>
                  <a:srgbClr val="000000"/>
                </a:solidFill>
                <a:latin typeface="Antic"/>
                <a:ea typeface="Antic"/>
                <a:cs typeface="Antic"/>
                <a:sym typeface="Antic"/>
              </a:rPr>
              <a:t>System analyzes mood and preferences</a:t>
            </a:r>
          </a:p>
          <a:p>
            <a:pPr algn="l">
              <a:lnSpc>
                <a:spcPts val="3120"/>
              </a:lnSpc>
            </a:pPr>
            <a:r>
              <a:rPr lang="en-US" sz="2400">
                <a:solidFill>
                  <a:srgbClr val="000000"/>
                </a:solidFill>
                <a:latin typeface="Antic"/>
                <a:ea typeface="Antic"/>
                <a:cs typeface="Antic"/>
                <a:sym typeface="Antic"/>
              </a:rPr>
              <a:t>Checks the movie database for matching tags (mood, genre, actor, etc.)</a:t>
            </a:r>
          </a:p>
          <a:p>
            <a:pPr algn="l">
              <a:lnSpc>
                <a:spcPts val="3120"/>
              </a:lnSpc>
            </a:pPr>
          </a:p>
        </p:txBody>
      </p:sp>
      <p:sp>
        <p:nvSpPr>
          <p:cNvPr name="Freeform 42" id="42"/>
          <p:cNvSpPr/>
          <p:nvPr/>
        </p:nvSpPr>
        <p:spPr>
          <a:xfrm flipH="false" flipV="false" rot="2976124">
            <a:off x="13622058" y="-640413"/>
            <a:ext cx="3760839" cy="4114800"/>
          </a:xfrm>
          <a:custGeom>
            <a:avLst/>
            <a:gdLst/>
            <a:ahLst/>
            <a:cxnLst/>
            <a:rect r="r" b="b" t="t" l="l"/>
            <a:pathLst>
              <a:path h="4114800" w="3760839">
                <a:moveTo>
                  <a:pt x="0" y="0"/>
                </a:moveTo>
                <a:lnTo>
                  <a:pt x="3760839" y="0"/>
                </a:lnTo>
                <a:lnTo>
                  <a:pt x="376083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648930"/>
            <a:ext cx="15773400" cy="1120055"/>
            <a:chOff x="0" y="0"/>
            <a:chExt cx="21031200" cy="1493407"/>
          </a:xfrm>
        </p:grpSpPr>
        <p:sp>
          <p:nvSpPr>
            <p:cNvPr name="Freeform 3" id="3"/>
            <p:cNvSpPr/>
            <p:nvPr/>
          </p:nvSpPr>
          <p:spPr>
            <a:xfrm flipH="false" flipV="false" rot="0">
              <a:off x="0" y="0"/>
              <a:ext cx="21031200" cy="1493407"/>
            </a:xfrm>
            <a:custGeom>
              <a:avLst/>
              <a:gdLst/>
              <a:ahLst/>
              <a:cxnLst/>
              <a:rect r="r" b="b" t="t" l="l"/>
              <a:pathLst>
                <a:path h="1493407" w="21031200">
                  <a:moveTo>
                    <a:pt x="0" y="0"/>
                  </a:moveTo>
                  <a:lnTo>
                    <a:pt x="21031200" y="0"/>
                  </a:lnTo>
                  <a:lnTo>
                    <a:pt x="21031200" y="1493407"/>
                  </a:lnTo>
                  <a:lnTo>
                    <a:pt x="0" y="1493407"/>
                  </a:lnTo>
                  <a:close/>
                </a:path>
              </a:pathLst>
            </a:custGeom>
            <a:solidFill>
              <a:srgbClr val="000000">
                <a:alpha val="0"/>
              </a:srgbClr>
            </a:solidFill>
          </p:spPr>
        </p:sp>
        <p:sp>
          <p:nvSpPr>
            <p:cNvPr name="TextBox 4" id="4"/>
            <p:cNvSpPr txBox="true"/>
            <p:nvPr/>
          </p:nvSpPr>
          <p:spPr>
            <a:xfrm>
              <a:off x="0" y="57150"/>
              <a:ext cx="21031200" cy="1436257"/>
            </a:xfrm>
            <a:prstGeom prst="rect">
              <a:avLst/>
            </a:prstGeom>
          </p:spPr>
          <p:txBody>
            <a:bodyPr anchor="ctr" rtlCol="false" tIns="0" lIns="0" bIns="0" rIns="0"/>
            <a:lstStyle/>
            <a:p>
              <a:pPr algn="l">
                <a:lnSpc>
                  <a:spcPts val="6415"/>
                </a:lnSpc>
              </a:pPr>
            </a:p>
          </p:txBody>
        </p:sp>
      </p:grpSp>
      <p:sp>
        <p:nvSpPr>
          <p:cNvPr name="TextBox 5" id="5"/>
          <p:cNvSpPr txBox="true"/>
          <p:nvPr/>
        </p:nvSpPr>
        <p:spPr>
          <a:xfrm rot="0">
            <a:off x="365531" y="2154040"/>
            <a:ext cx="17259300" cy="7421499"/>
          </a:xfrm>
          <a:prstGeom prst="rect">
            <a:avLst/>
          </a:prstGeom>
        </p:spPr>
        <p:txBody>
          <a:bodyPr anchor="t" rtlCol="false" tIns="0" lIns="0" bIns="0" rIns="0">
            <a:spAutoFit/>
          </a:bodyPr>
          <a:lstStyle/>
          <a:p>
            <a:pPr algn="l">
              <a:lnSpc>
                <a:spcPts val="2807"/>
              </a:lnSpc>
            </a:pPr>
            <a:r>
              <a:rPr lang="en-US" sz="2599">
                <a:solidFill>
                  <a:srgbClr val="000000"/>
                </a:solidFill>
                <a:latin typeface="Antic Bold"/>
                <a:ea typeface="Antic Bold"/>
                <a:cs typeface="Antic Bold"/>
                <a:sym typeface="Antic Bold"/>
              </a:rPr>
              <a:t> Singular Value Decomposition (SVD) </a:t>
            </a:r>
            <a:r>
              <a:rPr lang="en-US" sz="2599">
                <a:solidFill>
                  <a:srgbClr val="000000"/>
                </a:solidFill>
                <a:latin typeface="Antic"/>
                <a:ea typeface="Antic"/>
                <a:cs typeface="Antic"/>
                <a:sym typeface="Antic"/>
              </a:rPr>
              <a:t>is a powerful mathematical technique, fundamental to many recommendation systems. It's a type</a:t>
            </a:r>
            <a:r>
              <a:rPr lang="en-US" sz="2599">
                <a:solidFill>
                  <a:srgbClr val="000000"/>
                </a:solidFill>
                <a:latin typeface="Antic"/>
                <a:ea typeface="Antic"/>
                <a:cs typeface="Antic"/>
                <a:sym typeface="Antic"/>
              </a:rPr>
              <a:t> of matrix factorization used in collaborative filtering.</a:t>
            </a:r>
          </a:p>
          <a:p>
            <a:pPr algn="l">
              <a:lnSpc>
                <a:spcPts val="2807"/>
              </a:lnSpc>
            </a:pPr>
          </a:p>
          <a:p>
            <a:pPr algn="l" marL="561337" indent="-280669" lvl="1">
              <a:lnSpc>
                <a:spcPts val="2807"/>
              </a:lnSpc>
              <a:buFont typeface="Arial"/>
              <a:buChar char="•"/>
            </a:pPr>
            <a:r>
              <a:rPr lang="en-US" sz="2599">
                <a:solidFill>
                  <a:srgbClr val="000000"/>
                </a:solidFill>
                <a:latin typeface="Antic"/>
                <a:ea typeface="Antic"/>
                <a:cs typeface="Antic"/>
                <a:sym typeface="Antic"/>
              </a:rPr>
              <a:t>At its core, SVD takes a large, often sparse, user-item rating matrix and decomposes it into several smaller matrices. These matrices represent latent factors—hidden characteristics of both users (e.g., their taste dimensions) and items (e.g., movie attributes).</a:t>
            </a:r>
          </a:p>
          <a:p>
            <a:pPr algn="l">
              <a:lnSpc>
                <a:spcPts val="2807"/>
              </a:lnSpc>
            </a:pPr>
          </a:p>
          <a:p>
            <a:pPr algn="l" marL="561337" indent="-280669" lvl="1">
              <a:lnSpc>
                <a:spcPts val="2807"/>
              </a:lnSpc>
              <a:buFont typeface="Arial"/>
              <a:buChar char="•"/>
            </a:pPr>
            <a:r>
              <a:rPr lang="en-US" sz="2599">
                <a:solidFill>
                  <a:srgbClr val="000000"/>
                </a:solidFill>
                <a:latin typeface="Antic"/>
                <a:ea typeface="Antic"/>
                <a:cs typeface="Antic"/>
                <a:sym typeface="Antic"/>
              </a:rPr>
              <a:t>By</a:t>
            </a:r>
            <a:r>
              <a:rPr lang="en-US" sz="2599">
                <a:solidFill>
                  <a:srgbClr val="000000"/>
                </a:solidFill>
                <a:latin typeface="Antic"/>
                <a:ea typeface="Antic"/>
                <a:cs typeface="Antic"/>
                <a:sym typeface="Antic"/>
              </a:rPr>
              <a:t> understanding these latent factors, SVD can efficiently predict</a:t>
            </a:r>
            <a:r>
              <a:rPr lang="en-US" sz="2599">
                <a:solidFill>
                  <a:srgbClr val="000000"/>
                </a:solidFill>
                <a:latin typeface="Antic"/>
                <a:ea typeface="Antic"/>
                <a:cs typeface="Antic"/>
                <a:sym typeface="Antic"/>
              </a:rPr>
              <a:t> missing ratings, allowing the system to recommend unseen movies that a user is likely to enjoy.</a:t>
            </a:r>
          </a:p>
          <a:p>
            <a:pPr algn="l">
              <a:lnSpc>
                <a:spcPts val="2807"/>
              </a:lnSpc>
            </a:pPr>
          </a:p>
          <a:p>
            <a:pPr algn="l">
              <a:lnSpc>
                <a:spcPts val="2807"/>
              </a:lnSpc>
            </a:pPr>
            <a:r>
              <a:rPr lang="en-US" sz="2599">
                <a:solidFill>
                  <a:srgbClr val="000000"/>
                </a:solidFill>
                <a:latin typeface="Antic"/>
                <a:ea typeface="Antic"/>
                <a:cs typeface="Antic"/>
                <a:sym typeface="Antic"/>
              </a:rPr>
              <a:t> </a:t>
            </a:r>
            <a:r>
              <a:rPr lang="en-US" sz="2599">
                <a:solidFill>
                  <a:srgbClr val="000000"/>
                </a:solidFill>
                <a:latin typeface="Antic Bold"/>
                <a:ea typeface="Antic Bold"/>
                <a:cs typeface="Antic Bold"/>
                <a:sym typeface="Antic Bold"/>
              </a:rPr>
              <a:t>SVD's Role and Analogy:</a:t>
            </a:r>
          </a:p>
          <a:p>
            <a:pPr algn="l">
              <a:lnSpc>
                <a:spcPts val="2807"/>
              </a:lnSpc>
            </a:pPr>
          </a:p>
          <a:p>
            <a:pPr algn="l" marL="561337" indent="-280669" lvl="1">
              <a:lnSpc>
                <a:spcPts val="2807"/>
              </a:lnSpc>
              <a:buFont typeface="Arial"/>
              <a:buChar char="•"/>
            </a:pPr>
            <a:r>
              <a:rPr lang="en-US" sz="2599">
                <a:solidFill>
                  <a:srgbClr val="000000"/>
                </a:solidFill>
                <a:latin typeface="Antic"/>
                <a:ea typeface="Antic"/>
                <a:cs typeface="Antic"/>
                <a:sym typeface="Antic"/>
              </a:rPr>
              <a:t>Core Idea: SVD looks through the surface-level ratings to uncover the "latent factors"—the hidden reasons or characteristics behind the choices, such as "dark visuals" or "romantic plot".</a:t>
            </a:r>
          </a:p>
          <a:p>
            <a:pPr algn="l">
              <a:lnSpc>
                <a:spcPts val="2807"/>
              </a:lnSpc>
            </a:pPr>
          </a:p>
          <a:p>
            <a:pPr algn="l" marL="561337" indent="-280669" lvl="1">
              <a:lnSpc>
                <a:spcPts val="2807"/>
              </a:lnSpc>
              <a:buFont typeface="Arial"/>
              <a:buChar char="•"/>
            </a:pPr>
            <a:r>
              <a:rPr lang="en-US" sz="2599">
                <a:solidFill>
                  <a:srgbClr val="000000"/>
                </a:solidFill>
                <a:latin typeface="Antic"/>
                <a:ea typeface="Antic"/>
                <a:cs typeface="Antic"/>
                <a:sym typeface="Antic"/>
              </a:rPr>
              <a:t>Analogy: Think of SVD as an X-ray machine; it looks through the ratings to see the underlying connections.</a:t>
            </a:r>
          </a:p>
          <a:p>
            <a:pPr algn="l">
              <a:lnSpc>
                <a:spcPts val="2807"/>
              </a:lnSpc>
            </a:pPr>
          </a:p>
          <a:p>
            <a:pPr algn="l" marL="561337" indent="-280669" lvl="1">
              <a:lnSpc>
                <a:spcPts val="2807"/>
              </a:lnSpc>
              <a:buFont typeface="Arial"/>
              <a:buChar char="•"/>
            </a:pPr>
            <a:r>
              <a:rPr lang="en-US" sz="2599">
                <a:solidFill>
                  <a:srgbClr val="000000"/>
                </a:solidFill>
                <a:latin typeface="Antic"/>
                <a:ea typeface="Antic"/>
                <a:cs typeface="Antic"/>
                <a:sym typeface="Antic"/>
              </a:rPr>
              <a:t>Application: SVD is particularly useful because it is excellent at handling sparse data (a matrix with many empty or missing values), allowing it to fill in the blanks and predict unknown scores.</a:t>
            </a:r>
          </a:p>
          <a:p>
            <a:pPr algn="l">
              <a:lnSpc>
                <a:spcPts val="2807"/>
              </a:lnSpc>
            </a:pPr>
          </a:p>
          <a:p>
            <a:pPr algn="l">
              <a:lnSpc>
                <a:spcPts val="2807"/>
              </a:lnSpc>
            </a:pPr>
          </a:p>
        </p:txBody>
      </p:sp>
      <p:grpSp>
        <p:nvGrpSpPr>
          <p:cNvPr name="Group 6" id="6"/>
          <p:cNvGrpSpPr/>
          <p:nvPr/>
        </p:nvGrpSpPr>
        <p:grpSpPr>
          <a:xfrm rot="0">
            <a:off x="-1815867" y="511996"/>
            <a:ext cx="20103867" cy="1294058"/>
            <a:chOff x="0" y="0"/>
            <a:chExt cx="5294846" cy="340822"/>
          </a:xfrm>
        </p:grpSpPr>
        <p:sp>
          <p:nvSpPr>
            <p:cNvPr name="Freeform 7" id="7"/>
            <p:cNvSpPr/>
            <p:nvPr/>
          </p:nvSpPr>
          <p:spPr>
            <a:xfrm flipH="false" flipV="false" rot="0">
              <a:off x="0" y="0"/>
              <a:ext cx="5294845" cy="340822"/>
            </a:xfrm>
            <a:custGeom>
              <a:avLst/>
              <a:gdLst/>
              <a:ahLst/>
              <a:cxnLst/>
              <a:rect r="r" b="b" t="t" l="l"/>
              <a:pathLst>
                <a:path h="340822" w="5294845">
                  <a:moveTo>
                    <a:pt x="0" y="0"/>
                  </a:moveTo>
                  <a:lnTo>
                    <a:pt x="5294845" y="0"/>
                  </a:lnTo>
                  <a:lnTo>
                    <a:pt x="5294845" y="340822"/>
                  </a:lnTo>
                  <a:lnTo>
                    <a:pt x="0" y="340822"/>
                  </a:lnTo>
                  <a:close/>
                </a:path>
              </a:pathLst>
            </a:custGeom>
            <a:solidFill>
              <a:srgbClr val="000000"/>
            </a:solidFill>
          </p:spPr>
        </p:sp>
        <p:sp>
          <p:nvSpPr>
            <p:cNvPr name="TextBox 8" id="8"/>
            <p:cNvSpPr txBox="true"/>
            <p:nvPr/>
          </p:nvSpPr>
          <p:spPr>
            <a:xfrm>
              <a:off x="0" y="-28575"/>
              <a:ext cx="5294846" cy="369397"/>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3302714" y="764690"/>
            <a:ext cx="10952140" cy="712470"/>
          </a:xfrm>
          <a:prstGeom prst="rect">
            <a:avLst/>
          </a:prstGeom>
        </p:spPr>
        <p:txBody>
          <a:bodyPr anchor="t" rtlCol="false" tIns="0" lIns="0" bIns="0" rIns="0">
            <a:spAutoFit/>
          </a:bodyPr>
          <a:lstStyle/>
          <a:p>
            <a:pPr algn="ctr">
              <a:lnSpc>
                <a:spcPts val="5880"/>
              </a:lnSpc>
            </a:pPr>
            <a:r>
              <a:rPr lang="en-US" sz="4200" spc="327">
                <a:solidFill>
                  <a:srgbClr val="FFFFFF"/>
                </a:solidFill>
                <a:latin typeface="TAN Headline"/>
                <a:ea typeface="TAN Headline"/>
                <a:cs typeface="TAN Headline"/>
                <a:sym typeface="TAN Headline"/>
              </a:rPr>
              <a:t>Application of SVD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648930"/>
            <a:ext cx="15773400" cy="1120055"/>
            <a:chOff x="0" y="0"/>
            <a:chExt cx="21031200" cy="1493407"/>
          </a:xfrm>
        </p:grpSpPr>
        <p:sp>
          <p:nvSpPr>
            <p:cNvPr name="Freeform 3" id="3"/>
            <p:cNvSpPr/>
            <p:nvPr/>
          </p:nvSpPr>
          <p:spPr>
            <a:xfrm flipH="false" flipV="false" rot="0">
              <a:off x="0" y="0"/>
              <a:ext cx="21031200" cy="1493407"/>
            </a:xfrm>
            <a:custGeom>
              <a:avLst/>
              <a:gdLst/>
              <a:ahLst/>
              <a:cxnLst/>
              <a:rect r="r" b="b" t="t" l="l"/>
              <a:pathLst>
                <a:path h="1493407" w="21031200">
                  <a:moveTo>
                    <a:pt x="0" y="0"/>
                  </a:moveTo>
                  <a:lnTo>
                    <a:pt x="21031200" y="0"/>
                  </a:lnTo>
                  <a:lnTo>
                    <a:pt x="21031200" y="1493407"/>
                  </a:lnTo>
                  <a:lnTo>
                    <a:pt x="0" y="1493407"/>
                  </a:lnTo>
                  <a:close/>
                </a:path>
              </a:pathLst>
            </a:custGeom>
            <a:solidFill>
              <a:srgbClr val="000000">
                <a:alpha val="0"/>
              </a:srgbClr>
            </a:solidFill>
          </p:spPr>
        </p:sp>
        <p:sp>
          <p:nvSpPr>
            <p:cNvPr name="TextBox 4" id="4"/>
            <p:cNvSpPr txBox="true"/>
            <p:nvPr/>
          </p:nvSpPr>
          <p:spPr>
            <a:xfrm>
              <a:off x="0" y="57150"/>
              <a:ext cx="21031200" cy="1436257"/>
            </a:xfrm>
            <a:prstGeom prst="rect">
              <a:avLst/>
            </a:prstGeom>
          </p:spPr>
          <p:txBody>
            <a:bodyPr anchor="ctr" rtlCol="false" tIns="0" lIns="0" bIns="0" rIns="0"/>
            <a:lstStyle/>
            <a:p>
              <a:pPr algn="l">
                <a:lnSpc>
                  <a:spcPts val="6415"/>
                </a:lnSpc>
              </a:pPr>
            </a:p>
          </p:txBody>
        </p:sp>
      </p:grpSp>
      <p:grpSp>
        <p:nvGrpSpPr>
          <p:cNvPr name="Group 5" id="5"/>
          <p:cNvGrpSpPr/>
          <p:nvPr/>
        </p:nvGrpSpPr>
        <p:grpSpPr>
          <a:xfrm rot="0">
            <a:off x="-1388012" y="474927"/>
            <a:ext cx="20103867" cy="1294058"/>
            <a:chOff x="0" y="0"/>
            <a:chExt cx="5294846" cy="340822"/>
          </a:xfrm>
        </p:grpSpPr>
        <p:sp>
          <p:nvSpPr>
            <p:cNvPr name="Freeform 6" id="6"/>
            <p:cNvSpPr/>
            <p:nvPr/>
          </p:nvSpPr>
          <p:spPr>
            <a:xfrm flipH="false" flipV="false" rot="0">
              <a:off x="0" y="0"/>
              <a:ext cx="5294845" cy="340822"/>
            </a:xfrm>
            <a:custGeom>
              <a:avLst/>
              <a:gdLst/>
              <a:ahLst/>
              <a:cxnLst/>
              <a:rect r="r" b="b" t="t" l="l"/>
              <a:pathLst>
                <a:path h="340822" w="5294845">
                  <a:moveTo>
                    <a:pt x="0" y="0"/>
                  </a:moveTo>
                  <a:lnTo>
                    <a:pt x="5294845" y="0"/>
                  </a:lnTo>
                  <a:lnTo>
                    <a:pt x="5294845" y="340822"/>
                  </a:lnTo>
                  <a:lnTo>
                    <a:pt x="0" y="340822"/>
                  </a:lnTo>
                  <a:close/>
                </a:path>
              </a:pathLst>
            </a:custGeom>
            <a:solidFill>
              <a:srgbClr val="000000"/>
            </a:solidFill>
          </p:spPr>
        </p:sp>
        <p:sp>
          <p:nvSpPr>
            <p:cNvPr name="TextBox 7" id="7"/>
            <p:cNvSpPr txBox="true"/>
            <p:nvPr/>
          </p:nvSpPr>
          <p:spPr>
            <a:xfrm>
              <a:off x="0" y="-28575"/>
              <a:ext cx="5294846" cy="369397"/>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3667930" y="727621"/>
            <a:ext cx="10952140"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Building the Mood-Rating Matrix</a:t>
            </a:r>
          </a:p>
        </p:txBody>
      </p:sp>
      <p:sp>
        <p:nvSpPr>
          <p:cNvPr name="TextBox 9" id="9"/>
          <p:cNvSpPr txBox="true"/>
          <p:nvPr/>
        </p:nvSpPr>
        <p:spPr>
          <a:xfrm rot="0">
            <a:off x="353957" y="1910027"/>
            <a:ext cx="6032409" cy="9591802"/>
          </a:xfrm>
          <a:prstGeom prst="rect">
            <a:avLst/>
          </a:prstGeom>
        </p:spPr>
        <p:txBody>
          <a:bodyPr anchor="t" rtlCol="false" tIns="0" lIns="0" bIns="0" rIns="0">
            <a:spAutoFit/>
          </a:bodyPr>
          <a:lstStyle/>
          <a:p>
            <a:pPr algn="l" marL="565654" indent="-282827" lvl="1">
              <a:lnSpc>
                <a:spcPts val="3667"/>
              </a:lnSpc>
              <a:buFont typeface="Arial"/>
              <a:buChar char="•"/>
            </a:pPr>
            <a:r>
              <a:rPr lang="en-US" sz="2619">
                <a:solidFill>
                  <a:srgbClr val="000000"/>
                </a:solidFill>
                <a:latin typeface="Antic"/>
                <a:ea typeface="Antic"/>
                <a:cs typeface="Antic"/>
                <a:sym typeface="Antic"/>
              </a:rPr>
              <a:t>The Ratings Matrix R is built in such a way that each row represents a mood and each column represents a movie</a:t>
            </a:r>
          </a:p>
          <a:p>
            <a:pPr algn="l">
              <a:lnSpc>
                <a:spcPts val="3667"/>
              </a:lnSpc>
            </a:pPr>
          </a:p>
          <a:p>
            <a:pPr algn="l" marL="565654" indent="-282827" lvl="1">
              <a:lnSpc>
                <a:spcPts val="3667"/>
              </a:lnSpc>
              <a:buFont typeface="Arial"/>
              <a:buChar char="•"/>
            </a:pPr>
            <a:r>
              <a:rPr lang="en-US" sz="2619">
                <a:solidFill>
                  <a:srgbClr val="000000"/>
                </a:solidFill>
                <a:latin typeface="Antic"/>
                <a:ea typeface="Antic"/>
                <a:cs typeface="Antic"/>
                <a:sym typeface="Antic"/>
              </a:rPr>
              <a:t>Using Singular Value Decomposition (SVD), we can break this into three new matrices U, Sigma, and V Transpose.</a:t>
            </a:r>
          </a:p>
          <a:p>
            <a:pPr algn="l">
              <a:lnSpc>
                <a:spcPts val="3667"/>
              </a:lnSpc>
            </a:pPr>
          </a:p>
          <a:p>
            <a:pPr algn="l" marL="565654" indent="-282827" lvl="1">
              <a:lnSpc>
                <a:spcPts val="3667"/>
              </a:lnSpc>
              <a:buFont typeface="Arial"/>
              <a:buChar char="•"/>
            </a:pPr>
            <a:r>
              <a:rPr lang="en-US" sz="2619">
                <a:solidFill>
                  <a:srgbClr val="000000"/>
                </a:solidFill>
                <a:latin typeface="Antic Bold"/>
                <a:ea typeface="Antic Bold"/>
                <a:cs typeface="Antic Bold"/>
                <a:sym typeface="Antic Bold"/>
              </a:rPr>
              <a:t>U (Mood Feature Matrix):</a:t>
            </a:r>
          </a:p>
          <a:p>
            <a:pPr algn="l" marL="1131308" indent="-377103" lvl="2">
              <a:lnSpc>
                <a:spcPts val="3667"/>
              </a:lnSpc>
              <a:buFont typeface="Arial"/>
              <a:buChar char="⚬"/>
            </a:pPr>
            <a:r>
              <a:rPr lang="en-US" sz="2619">
                <a:solidFill>
                  <a:srgbClr val="000000"/>
                </a:solidFill>
                <a:latin typeface="Antic"/>
                <a:ea typeface="Antic"/>
                <a:cs typeface="Antic"/>
                <a:sym typeface="Antic"/>
              </a:rPr>
              <a:t>Rows → Moods</a:t>
            </a:r>
          </a:p>
          <a:p>
            <a:pPr algn="l" marL="1131308" indent="-377103" lvl="2">
              <a:lnSpc>
                <a:spcPts val="3667"/>
              </a:lnSpc>
              <a:buFont typeface="Arial"/>
              <a:buChar char="⚬"/>
            </a:pPr>
            <a:r>
              <a:rPr lang="en-US" sz="2619">
                <a:solidFill>
                  <a:srgbClr val="000000"/>
                </a:solidFill>
                <a:latin typeface="Antic"/>
                <a:ea typeface="Antic"/>
                <a:cs typeface="Antic"/>
                <a:sym typeface="Antic"/>
              </a:rPr>
              <a:t>Columns → Genres or hidden features or latent factors</a:t>
            </a:r>
          </a:p>
          <a:p>
            <a:pPr algn="l" marL="1131308" indent="-377103" lvl="2">
              <a:lnSpc>
                <a:spcPts val="3667"/>
              </a:lnSpc>
              <a:buFont typeface="Arial"/>
              <a:buChar char="⚬"/>
            </a:pPr>
            <a:r>
              <a:rPr lang="en-US" sz="2619">
                <a:solidFill>
                  <a:srgbClr val="000000"/>
                </a:solidFill>
                <a:latin typeface="Antic"/>
                <a:ea typeface="Antic"/>
                <a:cs typeface="Antic"/>
                <a:sym typeface="Antic"/>
              </a:rPr>
              <a:t>This s</a:t>
            </a:r>
            <a:r>
              <a:rPr lang="en-US" sz="2619">
                <a:solidFill>
                  <a:srgbClr val="000000"/>
                </a:solidFill>
                <a:latin typeface="Antic"/>
                <a:ea typeface="Antic"/>
                <a:cs typeface="Antic"/>
                <a:sym typeface="Antic"/>
              </a:rPr>
              <a:t>hows how strongly each mood is connected to different latent factors.</a:t>
            </a:r>
          </a:p>
          <a:p>
            <a:pPr algn="l">
              <a:lnSpc>
                <a:spcPts val="3667"/>
              </a:lnSpc>
            </a:pPr>
          </a:p>
          <a:p>
            <a:pPr algn="l">
              <a:lnSpc>
                <a:spcPts val="3667"/>
              </a:lnSpc>
            </a:pPr>
          </a:p>
          <a:p>
            <a:pPr algn="l">
              <a:lnSpc>
                <a:spcPts val="3667"/>
              </a:lnSpc>
            </a:pPr>
          </a:p>
          <a:p>
            <a:pPr algn="l">
              <a:lnSpc>
                <a:spcPts val="3667"/>
              </a:lnSpc>
            </a:pPr>
          </a:p>
          <a:p>
            <a:pPr algn="l">
              <a:lnSpc>
                <a:spcPts val="3667"/>
              </a:lnSpc>
              <a:spcBef>
                <a:spcPct val="0"/>
              </a:spcBef>
            </a:pPr>
          </a:p>
        </p:txBody>
      </p:sp>
      <p:sp>
        <p:nvSpPr>
          <p:cNvPr name="Freeform 10" id="10"/>
          <p:cNvSpPr/>
          <p:nvPr/>
        </p:nvSpPr>
        <p:spPr>
          <a:xfrm flipH="false" flipV="false" rot="0">
            <a:off x="8931749" y="2587512"/>
            <a:ext cx="7299426" cy="2555988"/>
          </a:xfrm>
          <a:custGeom>
            <a:avLst/>
            <a:gdLst/>
            <a:ahLst/>
            <a:cxnLst/>
            <a:rect r="r" b="b" t="t" l="l"/>
            <a:pathLst>
              <a:path h="2555988" w="7299426">
                <a:moveTo>
                  <a:pt x="0" y="0"/>
                </a:moveTo>
                <a:lnTo>
                  <a:pt x="7299426" y="0"/>
                </a:lnTo>
                <a:lnTo>
                  <a:pt x="7299426" y="2555988"/>
                </a:lnTo>
                <a:lnTo>
                  <a:pt x="0" y="2555988"/>
                </a:lnTo>
                <a:lnTo>
                  <a:pt x="0" y="0"/>
                </a:lnTo>
                <a:close/>
              </a:path>
            </a:pathLst>
          </a:custGeom>
          <a:blipFill>
            <a:blip r:embed="rId2"/>
            <a:stretch>
              <a:fillRect l="0" t="0" r="0" b="0"/>
            </a:stretch>
          </a:blipFill>
        </p:spPr>
      </p:sp>
      <p:sp>
        <p:nvSpPr>
          <p:cNvPr name="Freeform 11" id="11"/>
          <p:cNvSpPr/>
          <p:nvPr/>
        </p:nvSpPr>
        <p:spPr>
          <a:xfrm flipH="false" flipV="false" rot="0">
            <a:off x="8931749" y="6395534"/>
            <a:ext cx="7299426" cy="2064028"/>
          </a:xfrm>
          <a:custGeom>
            <a:avLst/>
            <a:gdLst/>
            <a:ahLst/>
            <a:cxnLst/>
            <a:rect r="r" b="b" t="t" l="l"/>
            <a:pathLst>
              <a:path h="2064028" w="7299426">
                <a:moveTo>
                  <a:pt x="0" y="0"/>
                </a:moveTo>
                <a:lnTo>
                  <a:pt x="7299426" y="0"/>
                </a:lnTo>
                <a:lnTo>
                  <a:pt x="7299426" y="2064028"/>
                </a:lnTo>
                <a:lnTo>
                  <a:pt x="0" y="2064028"/>
                </a:lnTo>
                <a:lnTo>
                  <a:pt x="0" y="0"/>
                </a:lnTo>
                <a:close/>
              </a:path>
            </a:pathLst>
          </a:custGeom>
          <a:blipFill>
            <a:blip r:embed="rId3"/>
            <a:stretch>
              <a:fillRect l="0" t="-45589"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648930"/>
            <a:ext cx="15773400" cy="1120055"/>
            <a:chOff x="0" y="0"/>
            <a:chExt cx="21031200" cy="1493407"/>
          </a:xfrm>
        </p:grpSpPr>
        <p:sp>
          <p:nvSpPr>
            <p:cNvPr name="Freeform 3" id="3"/>
            <p:cNvSpPr/>
            <p:nvPr/>
          </p:nvSpPr>
          <p:spPr>
            <a:xfrm flipH="false" flipV="false" rot="0">
              <a:off x="0" y="0"/>
              <a:ext cx="21031200" cy="1493407"/>
            </a:xfrm>
            <a:custGeom>
              <a:avLst/>
              <a:gdLst/>
              <a:ahLst/>
              <a:cxnLst/>
              <a:rect r="r" b="b" t="t" l="l"/>
              <a:pathLst>
                <a:path h="1493407" w="21031200">
                  <a:moveTo>
                    <a:pt x="0" y="0"/>
                  </a:moveTo>
                  <a:lnTo>
                    <a:pt x="21031200" y="0"/>
                  </a:lnTo>
                  <a:lnTo>
                    <a:pt x="21031200" y="1493407"/>
                  </a:lnTo>
                  <a:lnTo>
                    <a:pt x="0" y="1493407"/>
                  </a:lnTo>
                  <a:close/>
                </a:path>
              </a:pathLst>
            </a:custGeom>
            <a:solidFill>
              <a:srgbClr val="000000">
                <a:alpha val="0"/>
              </a:srgbClr>
            </a:solidFill>
          </p:spPr>
        </p:sp>
        <p:sp>
          <p:nvSpPr>
            <p:cNvPr name="TextBox 4" id="4"/>
            <p:cNvSpPr txBox="true"/>
            <p:nvPr/>
          </p:nvSpPr>
          <p:spPr>
            <a:xfrm>
              <a:off x="0" y="57150"/>
              <a:ext cx="21031200" cy="1436257"/>
            </a:xfrm>
            <a:prstGeom prst="rect">
              <a:avLst/>
            </a:prstGeom>
          </p:spPr>
          <p:txBody>
            <a:bodyPr anchor="ctr" rtlCol="false" tIns="0" lIns="0" bIns="0" rIns="0"/>
            <a:lstStyle/>
            <a:p>
              <a:pPr algn="l">
                <a:lnSpc>
                  <a:spcPts val="6415"/>
                </a:lnSpc>
              </a:pPr>
            </a:p>
          </p:txBody>
        </p:sp>
      </p:grpSp>
      <p:grpSp>
        <p:nvGrpSpPr>
          <p:cNvPr name="Group 5" id="5"/>
          <p:cNvGrpSpPr/>
          <p:nvPr/>
        </p:nvGrpSpPr>
        <p:grpSpPr>
          <a:xfrm rot="0">
            <a:off x="-1388012" y="474927"/>
            <a:ext cx="20103867" cy="1294058"/>
            <a:chOff x="0" y="0"/>
            <a:chExt cx="5294846" cy="340822"/>
          </a:xfrm>
        </p:grpSpPr>
        <p:sp>
          <p:nvSpPr>
            <p:cNvPr name="Freeform 6" id="6"/>
            <p:cNvSpPr/>
            <p:nvPr/>
          </p:nvSpPr>
          <p:spPr>
            <a:xfrm flipH="false" flipV="false" rot="0">
              <a:off x="0" y="0"/>
              <a:ext cx="5294845" cy="340822"/>
            </a:xfrm>
            <a:custGeom>
              <a:avLst/>
              <a:gdLst/>
              <a:ahLst/>
              <a:cxnLst/>
              <a:rect r="r" b="b" t="t" l="l"/>
              <a:pathLst>
                <a:path h="340822" w="5294845">
                  <a:moveTo>
                    <a:pt x="0" y="0"/>
                  </a:moveTo>
                  <a:lnTo>
                    <a:pt x="5294845" y="0"/>
                  </a:lnTo>
                  <a:lnTo>
                    <a:pt x="5294845" y="340822"/>
                  </a:lnTo>
                  <a:lnTo>
                    <a:pt x="0" y="340822"/>
                  </a:lnTo>
                  <a:close/>
                </a:path>
              </a:pathLst>
            </a:custGeom>
            <a:solidFill>
              <a:srgbClr val="000000"/>
            </a:solidFill>
          </p:spPr>
        </p:sp>
        <p:sp>
          <p:nvSpPr>
            <p:cNvPr name="TextBox 7" id="7"/>
            <p:cNvSpPr txBox="true"/>
            <p:nvPr/>
          </p:nvSpPr>
          <p:spPr>
            <a:xfrm>
              <a:off x="0" y="-28575"/>
              <a:ext cx="5294846" cy="369397"/>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3667930" y="727621"/>
            <a:ext cx="10952140"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Building the Mood-Rating Matrix</a:t>
            </a:r>
          </a:p>
        </p:txBody>
      </p:sp>
      <p:sp>
        <p:nvSpPr>
          <p:cNvPr name="TextBox 9" id="9"/>
          <p:cNvSpPr txBox="true"/>
          <p:nvPr/>
        </p:nvSpPr>
        <p:spPr>
          <a:xfrm rot="0">
            <a:off x="359515" y="1913821"/>
            <a:ext cx="7406766" cy="8373179"/>
          </a:xfrm>
          <a:prstGeom prst="rect">
            <a:avLst/>
          </a:prstGeom>
        </p:spPr>
        <p:txBody>
          <a:bodyPr anchor="t" rtlCol="false" tIns="0" lIns="0" bIns="0" rIns="0">
            <a:spAutoFit/>
          </a:bodyPr>
          <a:lstStyle/>
          <a:p>
            <a:pPr algn="l" marL="487378" indent="-243689" lvl="1">
              <a:lnSpc>
                <a:spcPts val="3160"/>
              </a:lnSpc>
              <a:buFont typeface="Arial"/>
              <a:buChar char="•"/>
            </a:pPr>
            <a:r>
              <a:rPr lang="en-US" sz="2257">
                <a:solidFill>
                  <a:srgbClr val="000000"/>
                </a:solidFill>
                <a:latin typeface="Antic Bold"/>
                <a:ea typeface="Antic Bold"/>
                <a:cs typeface="Antic Bold"/>
                <a:sym typeface="Antic Bold"/>
              </a:rPr>
              <a:t>Σ</a:t>
            </a:r>
            <a:r>
              <a:rPr lang="en-US" sz="2257">
                <a:solidFill>
                  <a:srgbClr val="000000"/>
                </a:solidFill>
                <a:latin typeface="Antic Bold"/>
                <a:ea typeface="Antic Bold"/>
                <a:cs typeface="Antic Bold"/>
                <a:sym typeface="Antic Bold"/>
              </a:rPr>
              <a:t> (Sigma Matrix):</a:t>
            </a:r>
          </a:p>
          <a:p>
            <a:pPr algn="l" marL="974756" indent="-324919" lvl="2">
              <a:lnSpc>
                <a:spcPts val="3160"/>
              </a:lnSpc>
              <a:spcBef>
                <a:spcPct val="0"/>
              </a:spcBef>
              <a:buFont typeface="Arial"/>
              <a:buChar char="⚬"/>
            </a:pPr>
            <a:r>
              <a:rPr lang="en-US" sz="2257">
                <a:solidFill>
                  <a:srgbClr val="000000"/>
                </a:solidFill>
                <a:latin typeface="Antic"/>
                <a:ea typeface="Antic"/>
                <a:cs typeface="Antic"/>
                <a:sym typeface="Antic"/>
              </a:rPr>
              <a:t>A diagonal matrix where each diagonal element represents the importance </a:t>
            </a:r>
            <a:r>
              <a:rPr lang="en-US" sz="2257">
                <a:solidFill>
                  <a:srgbClr val="000000"/>
                </a:solidFill>
                <a:latin typeface="Antic"/>
                <a:ea typeface="Antic"/>
                <a:cs typeface="Antic"/>
                <a:sym typeface="Antic"/>
              </a:rPr>
              <a:t>or strength of a hidden feature.</a:t>
            </a:r>
          </a:p>
          <a:p>
            <a:pPr algn="l" marL="974756" indent="-324919" lvl="2">
              <a:lnSpc>
                <a:spcPts val="3160"/>
              </a:lnSpc>
              <a:spcBef>
                <a:spcPct val="0"/>
              </a:spcBef>
              <a:buFont typeface="Arial"/>
              <a:buChar char="⚬"/>
            </a:pPr>
            <a:r>
              <a:rPr lang="en-US" sz="2257">
                <a:solidFill>
                  <a:srgbClr val="000000"/>
                </a:solidFill>
                <a:latin typeface="Antic"/>
                <a:ea typeface="Antic"/>
                <a:cs typeface="Antic"/>
                <a:sym typeface="Antic"/>
              </a:rPr>
              <a:t>A larger value means it has a greater impact on the recommendation.</a:t>
            </a:r>
          </a:p>
          <a:p>
            <a:pPr algn="l">
              <a:lnSpc>
                <a:spcPts val="3160"/>
              </a:lnSpc>
              <a:spcBef>
                <a:spcPct val="0"/>
              </a:spcBef>
            </a:pPr>
          </a:p>
          <a:p>
            <a:pPr algn="l" marL="487378" indent="-243689" lvl="1">
              <a:lnSpc>
                <a:spcPts val="3160"/>
              </a:lnSpc>
              <a:buFont typeface="Arial"/>
              <a:buChar char="•"/>
            </a:pPr>
            <a:r>
              <a:rPr lang="en-US" sz="2257">
                <a:solidFill>
                  <a:srgbClr val="000000"/>
                </a:solidFill>
                <a:latin typeface="Antic"/>
                <a:ea typeface="Antic"/>
                <a:cs typeface="Antic"/>
                <a:sym typeface="Antic"/>
              </a:rPr>
              <a:t> </a:t>
            </a:r>
            <a:r>
              <a:rPr lang="en-US" sz="2257">
                <a:solidFill>
                  <a:srgbClr val="000000"/>
                </a:solidFill>
                <a:latin typeface="Antic Bold"/>
                <a:ea typeface="Antic Bold"/>
                <a:cs typeface="Antic Bold"/>
                <a:sym typeface="Antic Bold"/>
              </a:rPr>
              <a:t>Vᵀ (Movie Feature Matrix):</a:t>
            </a:r>
          </a:p>
          <a:p>
            <a:pPr algn="l" marL="974756" indent="-324919" lvl="2">
              <a:lnSpc>
                <a:spcPts val="3160"/>
              </a:lnSpc>
              <a:spcBef>
                <a:spcPct val="0"/>
              </a:spcBef>
              <a:buFont typeface="Arial"/>
              <a:buChar char="⚬"/>
            </a:pPr>
            <a:r>
              <a:rPr lang="en-US" sz="2257">
                <a:solidFill>
                  <a:srgbClr val="000000"/>
                </a:solidFill>
                <a:latin typeface="Antic"/>
                <a:ea typeface="Antic"/>
                <a:cs typeface="Antic"/>
                <a:sym typeface="Antic"/>
              </a:rPr>
              <a:t>Rows → Genres or hidden features</a:t>
            </a:r>
          </a:p>
          <a:p>
            <a:pPr algn="l" marL="974756" indent="-324919" lvl="2">
              <a:lnSpc>
                <a:spcPts val="3160"/>
              </a:lnSpc>
              <a:spcBef>
                <a:spcPct val="0"/>
              </a:spcBef>
              <a:buFont typeface="Arial"/>
              <a:buChar char="⚬"/>
            </a:pPr>
            <a:r>
              <a:rPr lang="en-US" sz="2257">
                <a:solidFill>
                  <a:srgbClr val="000000"/>
                </a:solidFill>
                <a:latin typeface="Antic"/>
                <a:ea typeface="Antic"/>
                <a:cs typeface="Antic"/>
                <a:sym typeface="Antic"/>
              </a:rPr>
              <a:t>Columns → Movies</a:t>
            </a:r>
          </a:p>
          <a:p>
            <a:pPr algn="l" marL="974756" indent="-324919" lvl="2">
              <a:lnSpc>
                <a:spcPts val="3160"/>
              </a:lnSpc>
              <a:spcBef>
                <a:spcPct val="0"/>
              </a:spcBef>
              <a:buFont typeface="Arial"/>
              <a:buChar char="⚬"/>
            </a:pPr>
            <a:r>
              <a:rPr lang="en-US" sz="2257">
                <a:solidFill>
                  <a:srgbClr val="000000"/>
                </a:solidFill>
                <a:latin typeface="Antic"/>
                <a:ea typeface="Antic"/>
                <a:cs typeface="Antic"/>
                <a:sym typeface="Antic"/>
              </a:rPr>
              <a:t>Shows how much each movie fits into a specific latent factor.</a:t>
            </a:r>
          </a:p>
          <a:p>
            <a:pPr algn="l">
              <a:lnSpc>
                <a:spcPts val="3160"/>
              </a:lnSpc>
              <a:spcBef>
                <a:spcPct val="0"/>
              </a:spcBef>
            </a:pPr>
          </a:p>
          <a:p>
            <a:pPr algn="l" marL="487378" indent="-243689" lvl="1">
              <a:lnSpc>
                <a:spcPts val="3160"/>
              </a:lnSpc>
              <a:buFont typeface="Arial"/>
              <a:buChar char="•"/>
            </a:pPr>
            <a:r>
              <a:rPr lang="en-US" sz="2257">
                <a:solidFill>
                  <a:srgbClr val="000000"/>
                </a:solidFill>
                <a:latin typeface="Antic"/>
                <a:ea typeface="Antic"/>
                <a:cs typeface="Antic"/>
                <a:sym typeface="Antic"/>
              </a:rPr>
              <a:t>Now the missing spots in R formed by multiplying back U, Σ, Vᵀ are filled by calculating the mean/average of missing spot’s row.</a:t>
            </a:r>
          </a:p>
          <a:p>
            <a:pPr algn="l">
              <a:lnSpc>
                <a:spcPts val="3160"/>
              </a:lnSpc>
            </a:pPr>
          </a:p>
          <a:p>
            <a:pPr algn="l" marL="487378" indent="-243689" lvl="1">
              <a:lnSpc>
                <a:spcPts val="3160"/>
              </a:lnSpc>
              <a:buFont typeface="Arial"/>
              <a:buChar char="•"/>
            </a:pPr>
            <a:r>
              <a:rPr lang="en-US" sz="2257">
                <a:solidFill>
                  <a:srgbClr val="000000"/>
                </a:solidFill>
                <a:latin typeface="Antic"/>
                <a:ea typeface="Antic"/>
                <a:cs typeface="Antic"/>
                <a:sym typeface="Antic"/>
              </a:rPr>
              <a:t>Here R shows how each movie is related to a mood, and when user inputs the mood, movies linked to the moods are recommended.</a:t>
            </a:r>
          </a:p>
          <a:p>
            <a:pPr algn="l">
              <a:lnSpc>
                <a:spcPts val="3160"/>
              </a:lnSpc>
              <a:spcBef>
                <a:spcPct val="0"/>
              </a:spcBef>
            </a:pPr>
          </a:p>
        </p:txBody>
      </p:sp>
      <p:sp>
        <p:nvSpPr>
          <p:cNvPr name="Freeform 10" id="10"/>
          <p:cNvSpPr/>
          <p:nvPr/>
        </p:nvSpPr>
        <p:spPr>
          <a:xfrm flipH="false" flipV="false" rot="0">
            <a:off x="9322058" y="2417968"/>
            <a:ext cx="7272482" cy="2958021"/>
          </a:xfrm>
          <a:custGeom>
            <a:avLst/>
            <a:gdLst/>
            <a:ahLst/>
            <a:cxnLst/>
            <a:rect r="r" b="b" t="t" l="l"/>
            <a:pathLst>
              <a:path h="2958021" w="7272482">
                <a:moveTo>
                  <a:pt x="0" y="0"/>
                </a:moveTo>
                <a:lnTo>
                  <a:pt x="7272482" y="0"/>
                </a:lnTo>
                <a:lnTo>
                  <a:pt x="7272482" y="2958021"/>
                </a:lnTo>
                <a:lnTo>
                  <a:pt x="0" y="2958021"/>
                </a:lnTo>
                <a:lnTo>
                  <a:pt x="0" y="0"/>
                </a:lnTo>
                <a:close/>
              </a:path>
            </a:pathLst>
          </a:custGeom>
          <a:blipFill>
            <a:blip r:embed="rId2"/>
            <a:stretch>
              <a:fillRect l="0" t="0" r="0" b="0"/>
            </a:stretch>
          </a:blipFill>
        </p:spPr>
      </p:sp>
      <p:sp>
        <p:nvSpPr>
          <p:cNvPr name="Freeform 11" id="11"/>
          <p:cNvSpPr/>
          <p:nvPr/>
        </p:nvSpPr>
        <p:spPr>
          <a:xfrm flipH="false" flipV="false" rot="0">
            <a:off x="9322058" y="6357064"/>
            <a:ext cx="7272482" cy="2397226"/>
          </a:xfrm>
          <a:custGeom>
            <a:avLst/>
            <a:gdLst/>
            <a:ahLst/>
            <a:cxnLst/>
            <a:rect r="r" b="b" t="t" l="l"/>
            <a:pathLst>
              <a:path h="2397226" w="7272482">
                <a:moveTo>
                  <a:pt x="0" y="0"/>
                </a:moveTo>
                <a:lnTo>
                  <a:pt x="7272482" y="0"/>
                </a:lnTo>
                <a:lnTo>
                  <a:pt x="7272482" y="2397226"/>
                </a:lnTo>
                <a:lnTo>
                  <a:pt x="0" y="2397226"/>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59784" y="3002589"/>
            <a:ext cx="12680266" cy="6697924"/>
            <a:chOff x="0" y="0"/>
            <a:chExt cx="3339659" cy="1764062"/>
          </a:xfrm>
        </p:grpSpPr>
        <p:sp>
          <p:nvSpPr>
            <p:cNvPr name="Freeform 3" id="3"/>
            <p:cNvSpPr/>
            <p:nvPr/>
          </p:nvSpPr>
          <p:spPr>
            <a:xfrm flipH="false" flipV="false" rot="0">
              <a:off x="0" y="0"/>
              <a:ext cx="3339659" cy="1764062"/>
            </a:xfrm>
            <a:custGeom>
              <a:avLst/>
              <a:gdLst/>
              <a:ahLst/>
              <a:cxnLst/>
              <a:rect r="r" b="b" t="t" l="l"/>
              <a:pathLst>
                <a:path h="1764062" w="3339659">
                  <a:moveTo>
                    <a:pt x="0" y="0"/>
                  </a:moveTo>
                  <a:lnTo>
                    <a:pt x="3339659" y="0"/>
                  </a:lnTo>
                  <a:lnTo>
                    <a:pt x="3339659" y="1764062"/>
                  </a:lnTo>
                  <a:lnTo>
                    <a:pt x="0" y="1764062"/>
                  </a:lnTo>
                  <a:close/>
                </a:path>
              </a:pathLst>
            </a:custGeom>
            <a:solidFill>
              <a:srgbClr val="FFFFFF"/>
            </a:solidFill>
          </p:spPr>
        </p:sp>
        <p:sp>
          <p:nvSpPr>
            <p:cNvPr name="TextBox 4" id="4"/>
            <p:cNvSpPr txBox="true"/>
            <p:nvPr/>
          </p:nvSpPr>
          <p:spPr>
            <a:xfrm>
              <a:off x="0" y="-28575"/>
              <a:ext cx="3339659" cy="179263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369887" y="710565"/>
            <a:ext cx="19027773" cy="1708150"/>
            <a:chOff x="0" y="0"/>
            <a:chExt cx="5011430" cy="449883"/>
          </a:xfrm>
        </p:grpSpPr>
        <p:sp>
          <p:nvSpPr>
            <p:cNvPr name="Freeform 6" id="6"/>
            <p:cNvSpPr/>
            <p:nvPr/>
          </p:nvSpPr>
          <p:spPr>
            <a:xfrm flipH="false" flipV="false" rot="0">
              <a:off x="0" y="0"/>
              <a:ext cx="5011430" cy="449883"/>
            </a:xfrm>
            <a:custGeom>
              <a:avLst/>
              <a:gdLst/>
              <a:ahLst/>
              <a:cxnLst/>
              <a:rect r="r" b="b" t="t" l="l"/>
              <a:pathLst>
                <a:path h="449883" w="5011430">
                  <a:moveTo>
                    <a:pt x="0" y="0"/>
                  </a:moveTo>
                  <a:lnTo>
                    <a:pt x="5011430" y="0"/>
                  </a:lnTo>
                  <a:lnTo>
                    <a:pt x="5011430" y="449883"/>
                  </a:lnTo>
                  <a:lnTo>
                    <a:pt x="0" y="449883"/>
                  </a:lnTo>
                  <a:close/>
                </a:path>
              </a:pathLst>
            </a:custGeom>
            <a:solidFill>
              <a:srgbClr val="000000"/>
            </a:solidFill>
          </p:spPr>
        </p:sp>
        <p:sp>
          <p:nvSpPr>
            <p:cNvPr name="TextBox 7" id="7"/>
            <p:cNvSpPr txBox="true"/>
            <p:nvPr/>
          </p:nvSpPr>
          <p:spPr>
            <a:xfrm>
              <a:off x="0" y="-28575"/>
              <a:ext cx="5011430" cy="478458"/>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307557" y="2712353"/>
            <a:ext cx="17672886" cy="6545947"/>
          </a:xfrm>
          <a:prstGeom prst="rect">
            <a:avLst/>
          </a:prstGeom>
        </p:spPr>
        <p:txBody>
          <a:bodyPr anchor="t" rtlCol="false" tIns="0" lIns="0" bIns="0" rIns="0">
            <a:spAutoFit/>
          </a:bodyPr>
          <a:lstStyle/>
          <a:p>
            <a:pPr algn="l">
              <a:lnSpc>
                <a:spcPts val="3985"/>
              </a:lnSpc>
            </a:pPr>
            <a:r>
              <a:rPr lang="en-US" sz="2711">
                <a:solidFill>
                  <a:srgbClr val="000000"/>
                </a:solidFill>
                <a:latin typeface="Antic Bold"/>
                <a:ea typeface="Antic Bold"/>
                <a:cs typeface="Antic Bold"/>
                <a:sym typeface="Antic Bold"/>
              </a:rPr>
              <a:t>Data Collection:</a:t>
            </a:r>
          </a:p>
          <a:p>
            <a:pPr algn="l">
              <a:lnSpc>
                <a:spcPts val="3985"/>
              </a:lnSpc>
            </a:pPr>
            <a:r>
              <a:rPr lang="en-US" sz="2711">
                <a:solidFill>
                  <a:srgbClr val="000000"/>
                </a:solidFill>
                <a:latin typeface="Antic"/>
                <a:ea typeface="Antic"/>
                <a:cs typeface="Antic"/>
                <a:sym typeface="Antic"/>
              </a:rPr>
              <a:t>C</a:t>
            </a:r>
            <a:r>
              <a:rPr lang="en-US" sz="2711">
                <a:solidFill>
                  <a:srgbClr val="000000"/>
                </a:solidFill>
                <a:latin typeface="Antic"/>
                <a:ea typeface="Antic"/>
                <a:cs typeface="Antic"/>
                <a:sym typeface="Antic"/>
              </a:rPr>
              <a:t>ollect all customer ratings and structure the data in a giant grid. Users on one side, Ratings on the other, and Movies in the middle. This is the foundation of our entire system.</a:t>
            </a:r>
          </a:p>
          <a:p>
            <a:pPr algn="l">
              <a:lnSpc>
                <a:spcPts val="3985"/>
              </a:lnSpc>
            </a:pPr>
            <a:r>
              <a:rPr lang="en-US" sz="2711">
                <a:solidFill>
                  <a:srgbClr val="000000"/>
                </a:solidFill>
                <a:latin typeface="Antic Bold"/>
                <a:ea typeface="Antic Bold"/>
                <a:cs typeface="Antic Bold"/>
                <a:sym typeface="Antic Bold"/>
              </a:rPr>
              <a:t>Sparsity:</a:t>
            </a:r>
          </a:p>
          <a:p>
            <a:pPr algn="l">
              <a:lnSpc>
                <a:spcPts val="3985"/>
              </a:lnSpc>
            </a:pPr>
            <a:r>
              <a:rPr lang="en-US" sz="2711">
                <a:solidFill>
                  <a:srgbClr val="000000"/>
                </a:solidFill>
                <a:latin typeface="Antic"/>
                <a:ea typeface="Antic"/>
                <a:cs typeface="Antic"/>
                <a:sym typeface="Antic"/>
              </a:rPr>
              <a:t>Over 95% of the data is empty because most of the users only rate a few movies. This massive amount of blank data is our main challenge</a:t>
            </a:r>
          </a:p>
          <a:p>
            <a:pPr algn="l">
              <a:lnSpc>
                <a:spcPts val="3985"/>
              </a:lnSpc>
            </a:pPr>
            <a:r>
              <a:rPr lang="en-US" sz="2711">
                <a:solidFill>
                  <a:srgbClr val="000000"/>
                </a:solidFill>
                <a:latin typeface="Antic Bold"/>
                <a:ea typeface="Antic Bold"/>
                <a:cs typeface="Antic Bold"/>
                <a:sym typeface="Antic Bold"/>
              </a:rPr>
              <a:t>Missing Value Imputation:</a:t>
            </a:r>
          </a:p>
          <a:p>
            <a:pPr algn="l">
              <a:lnSpc>
                <a:spcPts val="3985"/>
              </a:lnSpc>
            </a:pPr>
            <a:r>
              <a:rPr lang="en-US" sz="2711">
                <a:solidFill>
                  <a:srgbClr val="000000"/>
                </a:solidFill>
                <a:latin typeface="Antic"/>
                <a:ea typeface="Antic"/>
                <a:cs typeface="Antic"/>
                <a:sym typeface="Antic"/>
              </a:rPr>
              <a:t>Use smart statistical averages (like a user's average rating) to Intelligently guess the missing scores.</a:t>
            </a:r>
          </a:p>
          <a:p>
            <a:pPr algn="l">
              <a:lnSpc>
                <a:spcPts val="3985"/>
              </a:lnSpc>
            </a:pPr>
            <a:r>
              <a:rPr lang="en-US" sz="2711">
                <a:solidFill>
                  <a:srgbClr val="000000"/>
                </a:solidFill>
                <a:latin typeface="Antic Bold"/>
                <a:ea typeface="Antic Bold"/>
                <a:cs typeface="Antic Bold"/>
                <a:sym typeface="Antic Bold"/>
              </a:rPr>
              <a:t>Normalization of ratings:</a:t>
            </a:r>
          </a:p>
          <a:p>
            <a:pPr algn="l">
              <a:lnSpc>
                <a:spcPts val="3985"/>
              </a:lnSpc>
            </a:pPr>
            <a:r>
              <a:rPr lang="en-US" sz="2711">
                <a:solidFill>
                  <a:srgbClr val="000000"/>
                </a:solidFill>
                <a:latin typeface="Antic"/>
                <a:ea typeface="Antic"/>
                <a:cs typeface="Antic"/>
                <a:sym typeface="Antic"/>
              </a:rPr>
              <a:t>Adjust ratings to account for users who generally rate everything high or low, ensuring fairness using algorithm.</a:t>
            </a:r>
          </a:p>
          <a:p>
            <a:pPr algn="l">
              <a:lnSpc>
                <a:spcPts val="3985"/>
              </a:lnSpc>
            </a:pPr>
            <a:r>
              <a:rPr lang="en-US" sz="2711">
                <a:solidFill>
                  <a:srgbClr val="000000"/>
                </a:solidFill>
                <a:latin typeface="Antic Bold"/>
                <a:ea typeface="Antic Bold"/>
                <a:cs typeface="Antic Bold"/>
                <a:sym typeface="Antic Bold"/>
              </a:rPr>
              <a:t>Final Output:</a:t>
            </a:r>
          </a:p>
          <a:p>
            <a:pPr algn="l">
              <a:lnSpc>
                <a:spcPts val="3985"/>
              </a:lnSpc>
            </a:pPr>
            <a:r>
              <a:rPr lang="en-US" sz="2711">
                <a:solidFill>
                  <a:srgbClr val="000000"/>
                </a:solidFill>
                <a:latin typeface="Antic"/>
                <a:ea typeface="Antic"/>
                <a:cs typeface="Antic"/>
                <a:sym typeface="Antic"/>
              </a:rPr>
              <a:t>Deliver a complete, clean, and balanced dataset ready for the SVD(Singular Value Decomposition) algorithm to find hidden patterns.</a:t>
            </a:r>
          </a:p>
        </p:txBody>
      </p:sp>
      <p:sp>
        <p:nvSpPr>
          <p:cNvPr name="TextBox 9" id="9"/>
          <p:cNvSpPr txBox="true"/>
          <p:nvPr/>
        </p:nvSpPr>
        <p:spPr>
          <a:xfrm rot="0">
            <a:off x="0" y="1170305"/>
            <a:ext cx="18288000"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Data Collection and Preprocessing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648930"/>
            <a:ext cx="15773400" cy="1120055"/>
            <a:chOff x="0" y="0"/>
            <a:chExt cx="21031200" cy="1493407"/>
          </a:xfrm>
        </p:grpSpPr>
        <p:sp>
          <p:nvSpPr>
            <p:cNvPr name="Freeform 3" id="3"/>
            <p:cNvSpPr/>
            <p:nvPr/>
          </p:nvSpPr>
          <p:spPr>
            <a:xfrm flipH="false" flipV="false" rot="0">
              <a:off x="0" y="0"/>
              <a:ext cx="21031200" cy="1493407"/>
            </a:xfrm>
            <a:custGeom>
              <a:avLst/>
              <a:gdLst/>
              <a:ahLst/>
              <a:cxnLst/>
              <a:rect r="r" b="b" t="t" l="l"/>
              <a:pathLst>
                <a:path h="1493407" w="21031200">
                  <a:moveTo>
                    <a:pt x="0" y="0"/>
                  </a:moveTo>
                  <a:lnTo>
                    <a:pt x="21031200" y="0"/>
                  </a:lnTo>
                  <a:lnTo>
                    <a:pt x="21031200" y="1493407"/>
                  </a:lnTo>
                  <a:lnTo>
                    <a:pt x="0" y="1493407"/>
                  </a:lnTo>
                  <a:close/>
                </a:path>
              </a:pathLst>
            </a:custGeom>
            <a:solidFill>
              <a:srgbClr val="000000">
                <a:alpha val="0"/>
              </a:srgbClr>
            </a:solidFill>
          </p:spPr>
        </p:sp>
        <p:sp>
          <p:nvSpPr>
            <p:cNvPr name="TextBox 4" id="4"/>
            <p:cNvSpPr txBox="true"/>
            <p:nvPr/>
          </p:nvSpPr>
          <p:spPr>
            <a:xfrm>
              <a:off x="0" y="57150"/>
              <a:ext cx="21031200" cy="1436257"/>
            </a:xfrm>
            <a:prstGeom prst="rect">
              <a:avLst/>
            </a:prstGeom>
          </p:spPr>
          <p:txBody>
            <a:bodyPr anchor="ctr" rtlCol="false" tIns="0" lIns="0" bIns="0" rIns="0"/>
            <a:lstStyle/>
            <a:p>
              <a:pPr algn="l">
                <a:lnSpc>
                  <a:spcPts val="6415"/>
                </a:lnSpc>
              </a:pPr>
            </a:p>
          </p:txBody>
        </p:sp>
      </p:grpSp>
      <p:grpSp>
        <p:nvGrpSpPr>
          <p:cNvPr name="Group 5" id="5"/>
          <p:cNvGrpSpPr/>
          <p:nvPr/>
        </p:nvGrpSpPr>
        <p:grpSpPr>
          <a:xfrm rot="0">
            <a:off x="-1815867" y="474927"/>
            <a:ext cx="20103867" cy="1294058"/>
            <a:chOff x="0" y="0"/>
            <a:chExt cx="5294846" cy="340822"/>
          </a:xfrm>
        </p:grpSpPr>
        <p:sp>
          <p:nvSpPr>
            <p:cNvPr name="Freeform 6" id="6"/>
            <p:cNvSpPr/>
            <p:nvPr/>
          </p:nvSpPr>
          <p:spPr>
            <a:xfrm flipH="false" flipV="false" rot="0">
              <a:off x="0" y="0"/>
              <a:ext cx="5294845" cy="340822"/>
            </a:xfrm>
            <a:custGeom>
              <a:avLst/>
              <a:gdLst/>
              <a:ahLst/>
              <a:cxnLst/>
              <a:rect r="r" b="b" t="t" l="l"/>
              <a:pathLst>
                <a:path h="340822" w="5294845">
                  <a:moveTo>
                    <a:pt x="0" y="0"/>
                  </a:moveTo>
                  <a:lnTo>
                    <a:pt x="5294845" y="0"/>
                  </a:lnTo>
                  <a:lnTo>
                    <a:pt x="5294845" y="340822"/>
                  </a:lnTo>
                  <a:lnTo>
                    <a:pt x="0" y="340822"/>
                  </a:lnTo>
                  <a:close/>
                </a:path>
              </a:pathLst>
            </a:custGeom>
            <a:solidFill>
              <a:srgbClr val="000000"/>
            </a:solidFill>
          </p:spPr>
        </p:sp>
        <p:sp>
          <p:nvSpPr>
            <p:cNvPr name="TextBox 7" id="7"/>
            <p:cNvSpPr txBox="true"/>
            <p:nvPr/>
          </p:nvSpPr>
          <p:spPr>
            <a:xfrm>
              <a:off x="0" y="-28575"/>
              <a:ext cx="5294846" cy="369397"/>
            </a:xfrm>
            <a:prstGeom prst="rect">
              <a:avLst/>
            </a:prstGeom>
          </p:spPr>
          <p:txBody>
            <a:bodyPr anchor="ctr" rtlCol="false" tIns="50800" lIns="50800" bIns="50800" rIns="50800"/>
            <a:lstStyle/>
            <a:p>
              <a:pPr algn="ctr">
                <a:lnSpc>
                  <a:spcPts val="1960"/>
                </a:lnSpc>
              </a:pPr>
            </a:p>
          </p:txBody>
        </p:sp>
      </p:grpSp>
      <p:graphicFrame>
        <p:nvGraphicFramePr>
          <p:cNvPr name="Object 8" id="8"/>
          <p:cNvGraphicFramePr/>
          <p:nvPr/>
        </p:nvGraphicFramePr>
        <p:xfrm>
          <a:off x="11707144" y="5054197"/>
          <a:ext cx="3771900" cy="3143250"/>
        </p:xfrm>
        <a:graphic>
          <a:graphicData uri="http://schemas.openxmlformats.org/presentationml/2006/ole">
            <p:oleObj imgW="4521200" imgH="3886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697791" y="4245289"/>
            <a:ext cx="8095307" cy="5396871"/>
          </a:xfrm>
          <a:custGeom>
            <a:avLst/>
            <a:gdLst/>
            <a:ahLst/>
            <a:cxnLst/>
            <a:rect r="r" b="b" t="t" l="l"/>
            <a:pathLst>
              <a:path h="5396871" w="8095307">
                <a:moveTo>
                  <a:pt x="0" y="0"/>
                </a:moveTo>
                <a:lnTo>
                  <a:pt x="8095307" y="0"/>
                </a:lnTo>
                <a:lnTo>
                  <a:pt x="8095307" y="5396872"/>
                </a:lnTo>
                <a:lnTo>
                  <a:pt x="0" y="5396872"/>
                </a:lnTo>
                <a:lnTo>
                  <a:pt x="0" y="0"/>
                </a:lnTo>
                <a:close/>
              </a:path>
            </a:pathLst>
          </a:custGeom>
          <a:blipFill>
            <a:blip r:embed="rId4"/>
            <a:stretch>
              <a:fillRect l="0" t="0" r="0" b="0"/>
            </a:stretch>
          </a:blipFill>
        </p:spPr>
      </p:sp>
      <p:sp>
        <p:nvSpPr>
          <p:cNvPr name="TextBox 10" id="10"/>
          <p:cNvSpPr txBox="true"/>
          <p:nvPr/>
        </p:nvSpPr>
        <p:spPr>
          <a:xfrm rot="0">
            <a:off x="2768263" y="814623"/>
            <a:ext cx="12805570"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SVD: Decomposing to Latent Factors</a:t>
            </a:r>
          </a:p>
        </p:txBody>
      </p:sp>
      <p:sp>
        <p:nvSpPr>
          <p:cNvPr name="TextBox 11" id="11"/>
          <p:cNvSpPr txBox="true"/>
          <p:nvPr/>
        </p:nvSpPr>
        <p:spPr>
          <a:xfrm rot="0">
            <a:off x="417213" y="1985645"/>
            <a:ext cx="14197489" cy="1607186"/>
          </a:xfrm>
          <a:prstGeom prst="rect">
            <a:avLst/>
          </a:prstGeom>
        </p:spPr>
        <p:txBody>
          <a:bodyPr anchor="t" rtlCol="false" tIns="0" lIns="0" bIns="0" rIns="0">
            <a:spAutoFit/>
          </a:bodyPr>
          <a:lstStyle/>
          <a:p>
            <a:pPr algn="l">
              <a:lnSpc>
                <a:spcPts val="3359"/>
              </a:lnSpc>
              <a:spcBef>
                <a:spcPct val="0"/>
              </a:spcBef>
            </a:pPr>
            <a:r>
              <a:rPr lang="en-US" sz="2399">
                <a:solidFill>
                  <a:srgbClr val="000000"/>
                </a:solidFill>
                <a:latin typeface="Antic Bold"/>
                <a:ea typeface="Antic Bold"/>
                <a:cs typeface="Antic Bold"/>
                <a:sym typeface="Antic Bold"/>
              </a:rPr>
              <a:t>Why Latent Factor Decomposition?</a:t>
            </a:r>
          </a:p>
          <a:p>
            <a:pPr algn="l">
              <a:lnSpc>
                <a:spcPts val="3219"/>
              </a:lnSpc>
              <a:spcBef>
                <a:spcPct val="0"/>
              </a:spcBef>
            </a:pPr>
            <a:r>
              <a:rPr lang="en-US" sz="2299">
                <a:solidFill>
                  <a:srgbClr val="000000"/>
                </a:solidFill>
                <a:latin typeface="Antic"/>
                <a:ea typeface="Antic"/>
                <a:cs typeface="Antic"/>
                <a:sym typeface="Antic"/>
              </a:rPr>
              <a:t>In real-world rating datasets, most users have rated only a small subset of movies, resulting in a sparse matrix. </a:t>
            </a:r>
          </a:p>
          <a:p>
            <a:pPr algn="l">
              <a:lnSpc>
                <a:spcPts val="3219"/>
              </a:lnSpc>
              <a:spcBef>
                <a:spcPct val="0"/>
              </a:spcBef>
            </a:pPr>
            <a:r>
              <a:rPr lang="en-US" sz="2299">
                <a:solidFill>
                  <a:srgbClr val="000000"/>
                </a:solidFill>
                <a:latin typeface="Antic"/>
                <a:ea typeface="Antic"/>
                <a:cs typeface="Antic"/>
                <a:sym typeface="Antic"/>
              </a:rPr>
              <a:t>SVD reduces this high-dimensional sparse matrix into smaller dense matrices that capture hidden preference patterns.</a:t>
            </a:r>
          </a:p>
          <a:p>
            <a:pPr algn="l">
              <a:lnSpc>
                <a:spcPts val="3219"/>
              </a:lnSpc>
              <a:spcBef>
                <a:spcPct val="0"/>
              </a:spcBef>
            </a:pPr>
            <a:r>
              <a:rPr lang="en-US" sz="2299">
                <a:solidFill>
                  <a:srgbClr val="000000"/>
                </a:solidFill>
                <a:latin typeface="Antic"/>
                <a:ea typeface="Antic"/>
                <a:cs typeface="Antic"/>
                <a:sym typeface="Antic"/>
              </a:rPr>
              <a:t>This allows the system to estimate missing ratings and make predictions for movies the user hasn’t watched yet.</a:t>
            </a:r>
          </a:p>
        </p:txBody>
      </p:sp>
      <p:sp>
        <p:nvSpPr>
          <p:cNvPr name="TextBox 12" id="12"/>
          <p:cNvSpPr txBox="true"/>
          <p:nvPr/>
        </p:nvSpPr>
        <p:spPr>
          <a:xfrm rot="0">
            <a:off x="5300239" y="4159564"/>
            <a:ext cx="2486607" cy="710122"/>
          </a:xfrm>
          <a:prstGeom prst="rect">
            <a:avLst/>
          </a:prstGeom>
        </p:spPr>
        <p:txBody>
          <a:bodyPr anchor="t" rtlCol="false" tIns="0" lIns="0" bIns="0" rIns="0">
            <a:spAutoFit/>
          </a:bodyPr>
          <a:lstStyle/>
          <a:p>
            <a:pPr algn="ctr">
              <a:lnSpc>
                <a:spcPts val="5770"/>
              </a:lnSpc>
              <a:spcBef>
                <a:spcPct val="0"/>
              </a:spcBef>
            </a:pPr>
            <a:r>
              <a:rPr lang="en-US" sz="4121">
                <a:solidFill>
                  <a:srgbClr val="000000"/>
                </a:solidFill>
                <a:latin typeface="Antic"/>
                <a:ea typeface="Antic"/>
                <a:cs typeface="Antic"/>
                <a:sym typeface="Antic"/>
              </a:rPr>
              <a:t>R = U Σ Vᵀ</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648930"/>
            <a:ext cx="15773400" cy="1120055"/>
            <a:chOff x="0" y="0"/>
            <a:chExt cx="21031200" cy="1493407"/>
          </a:xfrm>
        </p:grpSpPr>
        <p:sp>
          <p:nvSpPr>
            <p:cNvPr name="Freeform 3" id="3"/>
            <p:cNvSpPr/>
            <p:nvPr/>
          </p:nvSpPr>
          <p:spPr>
            <a:xfrm flipH="false" flipV="false" rot="0">
              <a:off x="0" y="0"/>
              <a:ext cx="21031200" cy="1493407"/>
            </a:xfrm>
            <a:custGeom>
              <a:avLst/>
              <a:gdLst/>
              <a:ahLst/>
              <a:cxnLst/>
              <a:rect r="r" b="b" t="t" l="l"/>
              <a:pathLst>
                <a:path h="1493407" w="21031200">
                  <a:moveTo>
                    <a:pt x="0" y="0"/>
                  </a:moveTo>
                  <a:lnTo>
                    <a:pt x="21031200" y="0"/>
                  </a:lnTo>
                  <a:lnTo>
                    <a:pt x="21031200" y="1493407"/>
                  </a:lnTo>
                  <a:lnTo>
                    <a:pt x="0" y="1493407"/>
                  </a:lnTo>
                  <a:close/>
                </a:path>
              </a:pathLst>
            </a:custGeom>
            <a:solidFill>
              <a:srgbClr val="000000">
                <a:alpha val="0"/>
              </a:srgbClr>
            </a:solidFill>
          </p:spPr>
        </p:sp>
        <p:sp>
          <p:nvSpPr>
            <p:cNvPr name="TextBox 4" id="4"/>
            <p:cNvSpPr txBox="true"/>
            <p:nvPr/>
          </p:nvSpPr>
          <p:spPr>
            <a:xfrm>
              <a:off x="0" y="57150"/>
              <a:ext cx="21031200" cy="1436257"/>
            </a:xfrm>
            <a:prstGeom prst="rect">
              <a:avLst/>
            </a:prstGeom>
          </p:spPr>
          <p:txBody>
            <a:bodyPr anchor="ctr" rtlCol="false" tIns="0" lIns="0" bIns="0" rIns="0"/>
            <a:lstStyle/>
            <a:p>
              <a:pPr algn="l">
                <a:lnSpc>
                  <a:spcPts val="6415"/>
                </a:lnSpc>
              </a:pPr>
            </a:p>
          </p:txBody>
        </p:sp>
      </p:grpSp>
      <p:grpSp>
        <p:nvGrpSpPr>
          <p:cNvPr name="Group 5" id="5"/>
          <p:cNvGrpSpPr/>
          <p:nvPr/>
        </p:nvGrpSpPr>
        <p:grpSpPr>
          <a:xfrm rot="0">
            <a:off x="-1815867" y="511996"/>
            <a:ext cx="20103867" cy="1294058"/>
            <a:chOff x="0" y="0"/>
            <a:chExt cx="5294846" cy="340822"/>
          </a:xfrm>
        </p:grpSpPr>
        <p:sp>
          <p:nvSpPr>
            <p:cNvPr name="Freeform 6" id="6"/>
            <p:cNvSpPr/>
            <p:nvPr/>
          </p:nvSpPr>
          <p:spPr>
            <a:xfrm flipH="false" flipV="false" rot="0">
              <a:off x="0" y="0"/>
              <a:ext cx="5294845" cy="340822"/>
            </a:xfrm>
            <a:custGeom>
              <a:avLst/>
              <a:gdLst/>
              <a:ahLst/>
              <a:cxnLst/>
              <a:rect r="r" b="b" t="t" l="l"/>
              <a:pathLst>
                <a:path h="340822" w="5294845">
                  <a:moveTo>
                    <a:pt x="0" y="0"/>
                  </a:moveTo>
                  <a:lnTo>
                    <a:pt x="5294845" y="0"/>
                  </a:lnTo>
                  <a:lnTo>
                    <a:pt x="5294845" y="340822"/>
                  </a:lnTo>
                  <a:lnTo>
                    <a:pt x="0" y="340822"/>
                  </a:lnTo>
                  <a:close/>
                </a:path>
              </a:pathLst>
            </a:custGeom>
            <a:solidFill>
              <a:srgbClr val="000000"/>
            </a:solidFill>
          </p:spPr>
        </p:sp>
        <p:sp>
          <p:nvSpPr>
            <p:cNvPr name="TextBox 7" id="7"/>
            <p:cNvSpPr txBox="true"/>
            <p:nvPr/>
          </p:nvSpPr>
          <p:spPr>
            <a:xfrm>
              <a:off x="0" y="-28575"/>
              <a:ext cx="5294846" cy="369397"/>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372108" y="2124067"/>
            <a:ext cx="17915892" cy="2487931"/>
          </a:xfrm>
          <a:prstGeom prst="rect">
            <a:avLst/>
          </a:prstGeom>
        </p:spPr>
        <p:txBody>
          <a:bodyPr anchor="t" rtlCol="false" tIns="0" lIns="0" bIns="0" rIns="0">
            <a:spAutoFit/>
          </a:bodyPr>
          <a:lstStyle/>
          <a:p>
            <a:pPr algn="l">
              <a:lnSpc>
                <a:spcPts val="3919"/>
              </a:lnSpc>
            </a:pPr>
            <a:r>
              <a:rPr lang="en-US" sz="2799">
                <a:solidFill>
                  <a:srgbClr val="000000"/>
                </a:solidFill>
                <a:latin typeface="Antic Bold"/>
                <a:ea typeface="Antic Bold"/>
                <a:cs typeface="Antic Bold"/>
                <a:sym typeface="Antic Bold"/>
              </a:rPr>
              <a:t>  </a:t>
            </a:r>
            <a:r>
              <a:rPr lang="en-US" sz="2799">
                <a:solidFill>
                  <a:srgbClr val="000000"/>
                </a:solidFill>
                <a:latin typeface="Antic Bold"/>
                <a:ea typeface="Antic Bold"/>
                <a:cs typeface="Antic Bold"/>
                <a:sym typeface="Antic Bold"/>
              </a:rPr>
              <a:t>How the Prediction Works</a:t>
            </a:r>
          </a:p>
          <a:p>
            <a:pPr algn="l" marL="496566" indent="-248283" lvl="1">
              <a:lnSpc>
                <a:spcPts val="3219"/>
              </a:lnSpc>
              <a:buFont typeface="Arial"/>
              <a:buChar char="•"/>
            </a:pPr>
            <a:r>
              <a:rPr lang="en-US" sz="2299">
                <a:solidFill>
                  <a:srgbClr val="000000"/>
                </a:solidFill>
                <a:latin typeface="Antic"/>
                <a:ea typeface="Antic"/>
                <a:cs typeface="Antic"/>
                <a:sym typeface="Antic"/>
              </a:rPr>
              <a:t>Once the original user–movie rating matrix is decomposed using SVD into U, Σ, and Vᵀ, each of these matrices captures different hidden patterns:</a:t>
            </a:r>
          </a:p>
          <a:p>
            <a:pPr algn="l" marL="496566" indent="-248283" lvl="1">
              <a:lnSpc>
                <a:spcPts val="3219"/>
              </a:lnSpc>
              <a:buFont typeface="Arial"/>
              <a:buChar char="•"/>
            </a:pPr>
            <a:r>
              <a:rPr lang="en-US" sz="2299">
                <a:solidFill>
                  <a:srgbClr val="000000"/>
                </a:solidFill>
                <a:latin typeface="Antic"/>
                <a:ea typeface="Antic"/>
                <a:cs typeface="Antic"/>
                <a:sym typeface="Antic"/>
              </a:rPr>
              <a:t>U stores mood of the user</a:t>
            </a:r>
          </a:p>
          <a:p>
            <a:pPr algn="l" marL="496566" indent="-248283" lvl="1">
              <a:lnSpc>
                <a:spcPts val="3219"/>
              </a:lnSpc>
              <a:buFont typeface="Arial"/>
              <a:buChar char="•"/>
            </a:pPr>
            <a:r>
              <a:rPr lang="en-US" sz="2299">
                <a:solidFill>
                  <a:srgbClr val="000000"/>
                </a:solidFill>
                <a:latin typeface="Antic"/>
                <a:ea typeface="Antic"/>
                <a:cs typeface="Antic"/>
                <a:sym typeface="Antic"/>
              </a:rPr>
              <a:t>Vᵀ stores the movie and features of it.</a:t>
            </a:r>
          </a:p>
          <a:p>
            <a:pPr algn="l" marL="496566" indent="-248283" lvl="1">
              <a:lnSpc>
                <a:spcPts val="3219"/>
              </a:lnSpc>
              <a:buFont typeface="Arial"/>
              <a:buChar char="•"/>
            </a:pPr>
            <a:r>
              <a:rPr lang="en-US" sz="2299">
                <a:solidFill>
                  <a:srgbClr val="000000"/>
                </a:solidFill>
                <a:latin typeface="Antic"/>
                <a:ea typeface="Antic"/>
                <a:cs typeface="Antic"/>
                <a:sym typeface="Antic"/>
              </a:rPr>
              <a:t>Σ gives importance weights to those features</a:t>
            </a:r>
          </a:p>
        </p:txBody>
      </p:sp>
      <p:sp>
        <p:nvSpPr>
          <p:cNvPr name="TextBox 9" id="9"/>
          <p:cNvSpPr txBox="true"/>
          <p:nvPr/>
        </p:nvSpPr>
        <p:spPr>
          <a:xfrm rot="0">
            <a:off x="372108" y="4935847"/>
            <a:ext cx="9914781" cy="4721861"/>
          </a:xfrm>
          <a:prstGeom prst="rect">
            <a:avLst/>
          </a:prstGeom>
        </p:spPr>
        <p:txBody>
          <a:bodyPr anchor="t" rtlCol="false" tIns="0" lIns="0" bIns="0" rIns="0">
            <a:spAutoFit/>
          </a:bodyPr>
          <a:lstStyle/>
          <a:p>
            <a:pPr algn="l">
              <a:lnSpc>
                <a:spcPts val="3499"/>
              </a:lnSpc>
            </a:pPr>
            <a:r>
              <a:rPr lang="en-US" sz="2499">
                <a:solidFill>
                  <a:srgbClr val="000000"/>
                </a:solidFill>
                <a:latin typeface="Antic Bold"/>
                <a:ea typeface="Antic Bold"/>
                <a:cs typeface="Antic Bold"/>
                <a:sym typeface="Antic Bold"/>
              </a:rPr>
              <a:t>  </a:t>
            </a:r>
            <a:r>
              <a:rPr lang="en-US" sz="2499">
                <a:solidFill>
                  <a:srgbClr val="000000"/>
                </a:solidFill>
                <a:latin typeface="Antic Bold"/>
                <a:ea typeface="Antic Bold"/>
                <a:cs typeface="Antic Bold"/>
                <a:sym typeface="Antic Bold"/>
              </a:rPr>
              <a:t>What actually happens during prediction</a:t>
            </a:r>
          </a:p>
          <a:p>
            <a:pPr algn="l" marL="474976" indent="-237488" lvl="1">
              <a:lnSpc>
                <a:spcPts val="3079"/>
              </a:lnSpc>
              <a:buFont typeface="Arial"/>
              <a:buChar char="•"/>
            </a:pPr>
            <a:r>
              <a:rPr lang="en-US" sz="2199">
                <a:solidFill>
                  <a:srgbClr val="000000"/>
                </a:solidFill>
                <a:latin typeface="Antic"/>
                <a:ea typeface="Antic"/>
                <a:cs typeface="Antic"/>
                <a:sym typeface="Antic"/>
              </a:rPr>
              <a:t>Identify user preferences</a:t>
            </a:r>
          </a:p>
          <a:p>
            <a:pPr algn="l" marL="474976" indent="-237488" lvl="1">
              <a:lnSpc>
                <a:spcPts val="3079"/>
              </a:lnSpc>
              <a:buFont typeface="Arial"/>
              <a:buChar char="•"/>
            </a:pPr>
            <a:r>
              <a:rPr lang="en-US" sz="2199">
                <a:solidFill>
                  <a:srgbClr val="000000"/>
                </a:solidFill>
                <a:latin typeface="Antic"/>
                <a:ea typeface="Antic"/>
                <a:cs typeface="Antic"/>
                <a:sym typeface="Antic"/>
              </a:rPr>
              <a:t>From U, the system understands if a user wants comedy, action, or romance. </a:t>
            </a:r>
          </a:p>
          <a:p>
            <a:pPr algn="l" marL="474976" indent="-237488" lvl="1">
              <a:lnSpc>
                <a:spcPts val="3079"/>
              </a:lnSpc>
              <a:buFont typeface="Arial"/>
              <a:buChar char="•"/>
            </a:pPr>
            <a:r>
              <a:rPr lang="en-US" sz="2199">
                <a:solidFill>
                  <a:srgbClr val="000000"/>
                </a:solidFill>
                <a:latin typeface="Antic"/>
                <a:ea typeface="Antic"/>
                <a:cs typeface="Antic"/>
                <a:sym typeface="Antic"/>
              </a:rPr>
              <a:t>Identify movie characteristics</a:t>
            </a:r>
          </a:p>
          <a:p>
            <a:pPr algn="l" marL="474976" indent="-237488" lvl="1">
              <a:lnSpc>
                <a:spcPts val="3079"/>
              </a:lnSpc>
              <a:buFont typeface="Arial"/>
              <a:buChar char="•"/>
            </a:pPr>
            <a:r>
              <a:rPr lang="en-US" sz="2199">
                <a:solidFill>
                  <a:srgbClr val="000000"/>
                </a:solidFill>
                <a:latin typeface="Antic"/>
                <a:ea typeface="Antic"/>
                <a:cs typeface="Antic"/>
                <a:sym typeface="Antic"/>
              </a:rPr>
              <a:t>From Vᵀ, it learns which movies are action-heavy, emotional, dark, humorous, etc.</a:t>
            </a:r>
          </a:p>
          <a:p>
            <a:pPr algn="l" marL="474976" indent="-237488" lvl="1">
              <a:lnSpc>
                <a:spcPts val="3079"/>
              </a:lnSpc>
              <a:buFont typeface="Arial"/>
              <a:buChar char="•"/>
            </a:pPr>
            <a:r>
              <a:rPr lang="en-US" sz="2199">
                <a:solidFill>
                  <a:srgbClr val="000000"/>
                </a:solidFill>
                <a:latin typeface="Antic"/>
                <a:ea typeface="Antic"/>
                <a:cs typeface="Antic"/>
                <a:sym typeface="Antic"/>
              </a:rPr>
              <a:t>Multiply U, Σ, Vᵀ</a:t>
            </a:r>
          </a:p>
          <a:p>
            <a:pPr algn="l" marL="474976" indent="-237488" lvl="1">
              <a:lnSpc>
                <a:spcPts val="3079"/>
              </a:lnSpc>
              <a:buFont typeface="Arial"/>
              <a:buChar char="•"/>
            </a:pPr>
            <a:r>
              <a:rPr lang="en-US" sz="2199">
                <a:solidFill>
                  <a:srgbClr val="000000"/>
                </a:solidFill>
                <a:latin typeface="Antic"/>
                <a:ea typeface="Antic"/>
                <a:cs typeface="Antic"/>
                <a:sym typeface="Antic"/>
              </a:rPr>
              <a:t>Combining them tells how strongly a user’s taste matches each movie’s features</a:t>
            </a:r>
          </a:p>
          <a:p>
            <a:pPr algn="l" marL="474976" indent="-237488" lvl="1">
              <a:lnSpc>
                <a:spcPts val="3079"/>
              </a:lnSpc>
              <a:buFont typeface="Arial"/>
              <a:buChar char="•"/>
            </a:pPr>
            <a:r>
              <a:rPr lang="en-US" sz="2199">
                <a:solidFill>
                  <a:srgbClr val="000000"/>
                </a:solidFill>
                <a:latin typeface="Antic"/>
                <a:ea typeface="Antic"/>
                <a:cs typeface="Antic"/>
                <a:sym typeface="Antic"/>
              </a:rPr>
              <a:t>Generate a predicted rating score</a:t>
            </a:r>
          </a:p>
          <a:p>
            <a:pPr algn="l" marL="474976" indent="-237488" lvl="1">
              <a:lnSpc>
                <a:spcPts val="3079"/>
              </a:lnSpc>
              <a:buFont typeface="Arial"/>
              <a:buChar char="•"/>
            </a:pPr>
            <a:r>
              <a:rPr lang="en-US" sz="2199">
                <a:solidFill>
                  <a:srgbClr val="000000"/>
                </a:solidFill>
                <a:latin typeface="Antic"/>
                <a:ea typeface="Antic"/>
                <a:cs typeface="Antic"/>
                <a:sym typeface="Antic"/>
              </a:rPr>
              <a:t>Example: User has not watched Movie X</a:t>
            </a:r>
          </a:p>
          <a:p>
            <a:pPr algn="l">
              <a:lnSpc>
                <a:spcPts val="3079"/>
              </a:lnSpc>
            </a:pPr>
            <a:r>
              <a:rPr lang="en-US" sz="2199">
                <a:solidFill>
                  <a:srgbClr val="000000"/>
                </a:solidFill>
                <a:latin typeface="Antic"/>
                <a:ea typeface="Antic"/>
                <a:cs typeface="Antic"/>
                <a:sym typeface="Antic"/>
              </a:rPr>
              <a:t>      After reconstruction, Movie X might have a predicted score like 4.6/5</a:t>
            </a:r>
          </a:p>
          <a:p>
            <a:pPr algn="l" marL="474976" indent="-237488" lvl="1">
              <a:lnSpc>
                <a:spcPts val="3079"/>
              </a:lnSpc>
              <a:buFont typeface="Arial"/>
              <a:buChar char="•"/>
            </a:pPr>
            <a:r>
              <a:rPr lang="en-US" sz="2199">
                <a:solidFill>
                  <a:srgbClr val="000000"/>
                </a:solidFill>
                <a:latin typeface="Antic"/>
                <a:ea typeface="Antic"/>
                <a:cs typeface="Antic"/>
                <a:sym typeface="Antic"/>
              </a:rPr>
              <a:t>Higher score → more likely the user will enjoy it</a:t>
            </a:r>
          </a:p>
          <a:p>
            <a:pPr algn="l" marL="474976" indent="-237488" lvl="1">
              <a:lnSpc>
                <a:spcPts val="3079"/>
              </a:lnSpc>
              <a:buFont typeface="Arial"/>
              <a:buChar char="•"/>
            </a:pPr>
            <a:r>
              <a:rPr lang="en-US" sz="2199">
                <a:solidFill>
                  <a:srgbClr val="000000"/>
                </a:solidFill>
                <a:latin typeface="Antic"/>
                <a:ea typeface="Antic"/>
                <a:cs typeface="Antic"/>
                <a:sym typeface="Antic"/>
              </a:rPr>
              <a:t>Sort predicted ratings &amp; recommend top movies that the user hasn't rated before</a:t>
            </a:r>
          </a:p>
        </p:txBody>
      </p:sp>
      <p:sp>
        <p:nvSpPr>
          <p:cNvPr name="TextBox 10" id="10"/>
          <p:cNvSpPr txBox="true"/>
          <p:nvPr/>
        </p:nvSpPr>
        <p:spPr>
          <a:xfrm rot="0">
            <a:off x="1739563" y="764690"/>
            <a:ext cx="15519737"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Making the Recommendation: Prediction Power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648930"/>
            <a:ext cx="15773400" cy="1120055"/>
            <a:chOff x="0" y="0"/>
            <a:chExt cx="21031200" cy="1493407"/>
          </a:xfrm>
        </p:grpSpPr>
        <p:sp>
          <p:nvSpPr>
            <p:cNvPr name="Freeform 3" id="3"/>
            <p:cNvSpPr/>
            <p:nvPr/>
          </p:nvSpPr>
          <p:spPr>
            <a:xfrm flipH="false" flipV="false" rot="0">
              <a:off x="0" y="0"/>
              <a:ext cx="21031200" cy="1493407"/>
            </a:xfrm>
            <a:custGeom>
              <a:avLst/>
              <a:gdLst/>
              <a:ahLst/>
              <a:cxnLst/>
              <a:rect r="r" b="b" t="t" l="l"/>
              <a:pathLst>
                <a:path h="1493407" w="21031200">
                  <a:moveTo>
                    <a:pt x="0" y="0"/>
                  </a:moveTo>
                  <a:lnTo>
                    <a:pt x="21031200" y="0"/>
                  </a:lnTo>
                  <a:lnTo>
                    <a:pt x="21031200" y="1493407"/>
                  </a:lnTo>
                  <a:lnTo>
                    <a:pt x="0" y="1493407"/>
                  </a:lnTo>
                  <a:close/>
                </a:path>
              </a:pathLst>
            </a:custGeom>
            <a:solidFill>
              <a:srgbClr val="000000">
                <a:alpha val="0"/>
              </a:srgbClr>
            </a:solidFill>
          </p:spPr>
        </p:sp>
        <p:sp>
          <p:nvSpPr>
            <p:cNvPr name="TextBox 4" id="4"/>
            <p:cNvSpPr txBox="true"/>
            <p:nvPr/>
          </p:nvSpPr>
          <p:spPr>
            <a:xfrm>
              <a:off x="0" y="57150"/>
              <a:ext cx="21031200" cy="1436257"/>
            </a:xfrm>
            <a:prstGeom prst="rect">
              <a:avLst/>
            </a:prstGeom>
          </p:spPr>
          <p:txBody>
            <a:bodyPr anchor="ctr" rtlCol="false" tIns="0" lIns="0" bIns="0" rIns="0"/>
            <a:lstStyle/>
            <a:p>
              <a:pPr algn="l">
                <a:lnSpc>
                  <a:spcPts val="6415"/>
                </a:lnSpc>
              </a:pPr>
            </a:p>
          </p:txBody>
        </p:sp>
      </p:grpSp>
      <p:grpSp>
        <p:nvGrpSpPr>
          <p:cNvPr name="Group 5" id="5"/>
          <p:cNvGrpSpPr/>
          <p:nvPr/>
        </p:nvGrpSpPr>
        <p:grpSpPr>
          <a:xfrm rot="0">
            <a:off x="-1815867" y="511996"/>
            <a:ext cx="20103867" cy="1294058"/>
            <a:chOff x="0" y="0"/>
            <a:chExt cx="5294846" cy="340822"/>
          </a:xfrm>
        </p:grpSpPr>
        <p:sp>
          <p:nvSpPr>
            <p:cNvPr name="Freeform 6" id="6"/>
            <p:cNvSpPr/>
            <p:nvPr/>
          </p:nvSpPr>
          <p:spPr>
            <a:xfrm flipH="false" flipV="false" rot="0">
              <a:off x="0" y="0"/>
              <a:ext cx="5294845" cy="340822"/>
            </a:xfrm>
            <a:custGeom>
              <a:avLst/>
              <a:gdLst/>
              <a:ahLst/>
              <a:cxnLst/>
              <a:rect r="r" b="b" t="t" l="l"/>
              <a:pathLst>
                <a:path h="340822" w="5294845">
                  <a:moveTo>
                    <a:pt x="0" y="0"/>
                  </a:moveTo>
                  <a:lnTo>
                    <a:pt x="5294845" y="0"/>
                  </a:lnTo>
                  <a:lnTo>
                    <a:pt x="5294845" y="340822"/>
                  </a:lnTo>
                  <a:lnTo>
                    <a:pt x="0" y="340822"/>
                  </a:lnTo>
                  <a:close/>
                </a:path>
              </a:pathLst>
            </a:custGeom>
            <a:solidFill>
              <a:srgbClr val="000000"/>
            </a:solidFill>
          </p:spPr>
        </p:sp>
        <p:sp>
          <p:nvSpPr>
            <p:cNvPr name="TextBox 7" id="7"/>
            <p:cNvSpPr txBox="true"/>
            <p:nvPr/>
          </p:nvSpPr>
          <p:spPr>
            <a:xfrm>
              <a:off x="0" y="-28575"/>
              <a:ext cx="5294846" cy="369397"/>
            </a:xfrm>
            <a:prstGeom prst="rect">
              <a:avLst/>
            </a:prstGeom>
          </p:spPr>
          <p:txBody>
            <a:bodyPr anchor="ctr" rtlCol="false" tIns="50800" lIns="50800" bIns="50800" rIns="50800"/>
            <a:lstStyle/>
            <a:p>
              <a:pPr algn="ctr">
                <a:lnSpc>
                  <a:spcPts val="1960"/>
                </a:lnSpc>
              </a:pPr>
            </a:p>
          </p:txBody>
        </p:sp>
      </p:grpSp>
      <p:graphicFrame>
        <p:nvGraphicFramePr>
          <p:cNvPr name="Object 8" id="8"/>
          <p:cNvGraphicFramePr/>
          <p:nvPr/>
        </p:nvGraphicFramePr>
        <p:xfrm>
          <a:off x="714705" y="5434943"/>
          <a:ext cx="7543800" cy="1885950"/>
        </p:xfrm>
        <a:graphic>
          <a:graphicData uri="http://schemas.openxmlformats.org/presentationml/2006/ole">
            <p:oleObj imgW="9042400" imgH="3390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10593886" y="3333542"/>
            <a:ext cx="6665414" cy="4443609"/>
          </a:xfrm>
          <a:custGeom>
            <a:avLst/>
            <a:gdLst/>
            <a:ahLst/>
            <a:cxnLst/>
            <a:rect r="r" b="b" t="t" l="l"/>
            <a:pathLst>
              <a:path h="4443609" w="6665414">
                <a:moveTo>
                  <a:pt x="0" y="0"/>
                </a:moveTo>
                <a:lnTo>
                  <a:pt x="6665414" y="0"/>
                </a:lnTo>
                <a:lnTo>
                  <a:pt x="6665414" y="4443609"/>
                </a:lnTo>
                <a:lnTo>
                  <a:pt x="0" y="4443609"/>
                </a:lnTo>
                <a:lnTo>
                  <a:pt x="0" y="0"/>
                </a:lnTo>
                <a:close/>
              </a:path>
            </a:pathLst>
          </a:custGeom>
          <a:blipFill>
            <a:blip r:embed="rId4"/>
            <a:stretch>
              <a:fillRect l="0" t="0" r="0" b="0"/>
            </a:stretch>
          </a:blipFill>
        </p:spPr>
      </p:sp>
      <p:sp>
        <p:nvSpPr>
          <p:cNvPr name="TextBox 10" id="10"/>
          <p:cNvSpPr txBox="true"/>
          <p:nvPr/>
        </p:nvSpPr>
        <p:spPr>
          <a:xfrm rot="0">
            <a:off x="1739563" y="764690"/>
            <a:ext cx="15519737"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Making the Recommendation: Prediction Power</a:t>
            </a:r>
          </a:p>
        </p:txBody>
      </p:sp>
      <p:sp>
        <p:nvSpPr>
          <p:cNvPr name="TextBox 11" id="11"/>
          <p:cNvSpPr txBox="true"/>
          <p:nvPr/>
        </p:nvSpPr>
        <p:spPr>
          <a:xfrm rot="0">
            <a:off x="714705" y="7729526"/>
            <a:ext cx="6712863" cy="66611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Antic"/>
                <a:ea typeface="Antic"/>
                <a:cs typeface="Antic"/>
                <a:sym typeface="Antic"/>
              </a:rPr>
              <a:t>User never watched Movie C, but model predicts they'll rate it ~4.7,</a:t>
            </a:r>
          </a:p>
          <a:p>
            <a:pPr algn="l">
              <a:lnSpc>
                <a:spcPts val="2659"/>
              </a:lnSpc>
              <a:spcBef>
                <a:spcPct val="0"/>
              </a:spcBef>
            </a:pPr>
            <a:r>
              <a:rPr lang="en-US" sz="1899">
                <a:solidFill>
                  <a:srgbClr val="000000"/>
                </a:solidFill>
                <a:latin typeface="Antic"/>
                <a:ea typeface="Antic"/>
                <a:cs typeface="Antic"/>
                <a:sym typeface="Antic"/>
              </a:rPr>
              <a:t> so it becomes a recommended movie.</a:t>
            </a:r>
          </a:p>
        </p:txBody>
      </p:sp>
      <p:sp>
        <p:nvSpPr>
          <p:cNvPr name="TextBox 12" id="12"/>
          <p:cNvSpPr txBox="true"/>
          <p:nvPr/>
        </p:nvSpPr>
        <p:spPr>
          <a:xfrm rot="0">
            <a:off x="714705" y="8804275"/>
            <a:ext cx="15341854" cy="860426"/>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Antic Bold"/>
                <a:ea typeface="Antic Bold"/>
                <a:cs typeface="Antic Bold"/>
                <a:sym typeface="Antic Bold"/>
              </a:rPr>
              <a:t>In short:</a:t>
            </a:r>
          </a:p>
          <a:p>
            <a:pPr algn="l">
              <a:lnSpc>
                <a:spcPts val="3499"/>
              </a:lnSpc>
              <a:spcBef>
                <a:spcPct val="0"/>
              </a:spcBef>
            </a:pPr>
            <a:r>
              <a:rPr lang="en-US" sz="2499">
                <a:solidFill>
                  <a:srgbClr val="000000"/>
                </a:solidFill>
                <a:latin typeface="Antic Bold"/>
                <a:ea typeface="Antic Bold"/>
                <a:cs typeface="Antic Bold"/>
                <a:sym typeface="Antic Bold"/>
              </a:rPr>
              <a:t>The model learns patterns → estimates missing ratings → recommends the highest ones.</a:t>
            </a:r>
          </a:p>
        </p:txBody>
      </p:sp>
      <p:sp>
        <p:nvSpPr>
          <p:cNvPr name="TextBox 13" id="13"/>
          <p:cNvSpPr txBox="true"/>
          <p:nvPr/>
        </p:nvSpPr>
        <p:spPr>
          <a:xfrm rot="0">
            <a:off x="714705" y="2509248"/>
            <a:ext cx="8742045" cy="2613026"/>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Antic Bold"/>
                <a:ea typeface="Antic Bold"/>
                <a:cs typeface="Antic Bold"/>
                <a:sym typeface="Antic Bold"/>
              </a:rPr>
              <a:t>Why this is Powerful?</a:t>
            </a:r>
          </a:p>
          <a:p>
            <a:pPr algn="l" marL="539745" indent="-269872" lvl="1">
              <a:lnSpc>
                <a:spcPts val="3499"/>
              </a:lnSpc>
              <a:buFont typeface="Arial"/>
              <a:buChar char="•"/>
            </a:pPr>
            <a:r>
              <a:rPr lang="en-US" sz="2499">
                <a:solidFill>
                  <a:srgbClr val="000000"/>
                </a:solidFill>
                <a:latin typeface="Antic"/>
                <a:ea typeface="Antic"/>
                <a:cs typeface="Antic"/>
                <a:sym typeface="Antic"/>
              </a:rPr>
              <a:t>User doesn’t need to rate many movies</a:t>
            </a:r>
          </a:p>
          <a:p>
            <a:pPr algn="l" marL="539745" indent="-269872" lvl="1">
              <a:lnSpc>
                <a:spcPts val="3499"/>
              </a:lnSpc>
              <a:buFont typeface="Arial"/>
              <a:buChar char="•"/>
            </a:pPr>
            <a:r>
              <a:rPr lang="en-US" sz="2499">
                <a:solidFill>
                  <a:srgbClr val="000000"/>
                </a:solidFill>
                <a:latin typeface="Antic"/>
                <a:ea typeface="Antic"/>
                <a:cs typeface="Antic"/>
                <a:sym typeface="Antic"/>
              </a:rPr>
              <a:t>System learns from similar users and patterns</a:t>
            </a:r>
          </a:p>
          <a:p>
            <a:pPr algn="l" marL="539745" indent="-269872" lvl="1">
              <a:lnSpc>
                <a:spcPts val="3499"/>
              </a:lnSpc>
              <a:buFont typeface="Arial"/>
              <a:buChar char="•"/>
            </a:pPr>
            <a:r>
              <a:rPr lang="en-US" sz="2499">
                <a:solidFill>
                  <a:srgbClr val="000000"/>
                </a:solidFill>
                <a:latin typeface="Antic"/>
                <a:ea typeface="Antic"/>
                <a:cs typeface="Antic"/>
                <a:sym typeface="Antic"/>
              </a:rPr>
              <a:t>Can recommend movies no one explicitly asked for</a:t>
            </a:r>
          </a:p>
          <a:p>
            <a:pPr algn="l">
              <a:lnSpc>
                <a:spcPts val="3499"/>
              </a:lnSpc>
              <a:spcBef>
                <a:spcPct val="0"/>
              </a:spcBef>
            </a:pPr>
            <a:r>
              <a:rPr lang="en-US" sz="2499">
                <a:solidFill>
                  <a:srgbClr val="000000"/>
                </a:solidFill>
                <a:latin typeface="Antic"/>
                <a:ea typeface="Antic"/>
                <a:cs typeface="Antic"/>
                <a:sym typeface="Antic"/>
              </a:rPr>
              <a:t>➡ Prediction is based on matching user taste with movie features </a:t>
            </a:r>
          </a:p>
          <a:p>
            <a:pPr algn="l">
              <a:lnSpc>
                <a:spcPts val="3499"/>
              </a:lnSpc>
              <a:spcBef>
                <a:spcPct val="0"/>
              </a:spcBef>
            </a:pPr>
            <a:r>
              <a:rPr lang="en-US" sz="2499">
                <a:solidFill>
                  <a:srgbClr val="000000"/>
                </a:solidFill>
                <a:latin typeface="Antic"/>
                <a:ea typeface="Antic"/>
                <a:cs typeface="Antic"/>
                <a:sym typeface="Antic"/>
              </a:rPr>
              <a:t>mathematically.</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59784" y="3002589"/>
            <a:ext cx="12680266" cy="6697924"/>
            <a:chOff x="0" y="0"/>
            <a:chExt cx="3339659" cy="1764062"/>
          </a:xfrm>
        </p:grpSpPr>
        <p:sp>
          <p:nvSpPr>
            <p:cNvPr name="Freeform 3" id="3"/>
            <p:cNvSpPr/>
            <p:nvPr/>
          </p:nvSpPr>
          <p:spPr>
            <a:xfrm flipH="false" flipV="false" rot="0">
              <a:off x="0" y="0"/>
              <a:ext cx="3339659" cy="1764062"/>
            </a:xfrm>
            <a:custGeom>
              <a:avLst/>
              <a:gdLst/>
              <a:ahLst/>
              <a:cxnLst/>
              <a:rect r="r" b="b" t="t" l="l"/>
              <a:pathLst>
                <a:path h="1764062" w="3339659">
                  <a:moveTo>
                    <a:pt x="0" y="0"/>
                  </a:moveTo>
                  <a:lnTo>
                    <a:pt x="3339659" y="0"/>
                  </a:lnTo>
                  <a:lnTo>
                    <a:pt x="3339659" y="1764062"/>
                  </a:lnTo>
                  <a:lnTo>
                    <a:pt x="0" y="1764062"/>
                  </a:lnTo>
                  <a:close/>
                </a:path>
              </a:pathLst>
            </a:custGeom>
            <a:solidFill>
              <a:srgbClr val="FFFFFF"/>
            </a:solidFill>
          </p:spPr>
        </p:sp>
        <p:sp>
          <p:nvSpPr>
            <p:cNvPr name="TextBox 4" id="4"/>
            <p:cNvSpPr txBox="true"/>
            <p:nvPr/>
          </p:nvSpPr>
          <p:spPr>
            <a:xfrm>
              <a:off x="0" y="-28575"/>
              <a:ext cx="3339659" cy="179263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213970" y="710565"/>
            <a:ext cx="19027773" cy="1708150"/>
            <a:chOff x="0" y="0"/>
            <a:chExt cx="5011430" cy="449883"/>
          </a:xfrm>
        </p:grpSpPr>
        <p:sp>
          <p:nvSpPr>
            <p:cNvPr name="Freeform 6" id="6"/>
            <p:cNvSpPr/>
            <p:nvPr/>
          </p:nvSpPr>
          <p:spPr>
            <a:xfrm flipH="false" flipV="false" rot="0">
              <a:off x="0" y="0"/>
              <a:ext cx="5011430" cy="449883"/>
            </a:xfrm>
            <a:custGeom>
              <a:avLst/>
              <a:gdLst/>
              <a:ahLst/>
              <a:cxnLst/>
              <a:rect r="r" b="b" t="t" l="l"/>
              <a:pathLst>
                <a:path h="449883" w="5011430">
                  <a:moveTo>
                    <a:pt x="0" y="0"/>
                  </a:moveTo>
                  <a:lnTo>
                    <a:pt x="5011430" y="0"/>
                  </a:lnTo>
                  <a:lnTo>
                    <a:pt x="5011430" y="449883"/>
                  </a:lnTo>
                  <a:lnTo>
                    <a:pt x="0" y="449883"/>
                  </a:lnTo>
                  <a:close/>
                </a:path>
              </a:pathLst>
            </a:custGeom>
            <a:solidFill>
              <a:srgbClr val="000000"/>
            </a:solidFill>
          </p:spPr>
        </p:sp>
        <p:sp>
          <p:nvSpPr>
            <p:cNvPr name="TextBox 7" id="7"/>
            <p:cNvSpPr txBox="true"/>
            <p:nvPr/>
          </p:nvSpPr>
          <p:spPr>
            <a:xfrm>
              <a:off x="0" y="-28575"/>
              <a:ext cx="5011430" cy="478458"/>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2742081"/>
            <a:ext cx="15469999" cy="6613381"/>
          </a:xfrm>
          <a:prstGeom prst="rect">
            <a:avLst/>
          </a:prstGeom>
        </p:spPr>
        <p:txBody>
          <a:bodyPr anchor="t" rtlCol="false" tIns="0" lIns="0" bIns="0" rIns="0">
            <a:spAutoFit/>
          </a:bodyPr>
          <a:lstStyle/>
          <a:p>
            <a:pPr algn="l">
              <a:lnSpc>
                <a:spcPts val="4361"/>
              </a:lnSpc>
            </a:pPr>
            <a:r>
              <a:rPr lang="en-US" sz="2967">
                <a:solidFill>
                  <a:srgbClr val="000000"/>
                </a:solidFill>
                <a:latin typeface="Antic Bold"/>
                <a:ea typeface="Antic Bold"/>
                <a:cs typeface="Antic Bold"/>
                <a:sym typeface="Antic Bold"/>
              </a:rPr>
              <a:t>RMSE (Root Mean Square Error)</a:t>
            </a:r>
          </a:p>
          <a:p>
            <a:pPr algn="l">
              <a:lnSpc>
                <a:spcPts val="4361"/>
              </a:lnSpc>
            </a:pPr>
            <a:r>
              <a:rPr lang="en-US" sz="2967">
                <a:solidFill>
                  <a:srgbClr val="000000"/>
                </a:solidFill>
                <a:latin typeface="Antic"/>
                <a:ea typeface="Antic"/>
                <a:cs typeface="Antic"/>
                <a:sym typeface="Antic"/>
              </a:rPr>
              <a:t>Measures the difference between predicted and actual ratings.</a:t>
            </a:r>
          </a:p>
          <a:p>
            <a:pPr algn="l">
              <a:lnSpc>
                <a:spcPts val="4361"/>
              </a:lnSpc>
            </a:pPr>
            <a:r>
              <a:rPr lang="en-US" sz="2967">
                <a:solidFill>
                  <a:srgbClr val="000000"/>
                </a:solidFill>
                <a:latin typeface="Antic"/>
                <a:ea typeface="Antic"/>
                <a:cs typeface="Antic"/>
                <a:sym typeface="Antic"/>
              </a:rPr>
              <a:t>Lower RMSE → higher accuracy.</a:t>
            </a:r>
          </a:p>
          <a:p>
            <a:pPr algn="l">
              <a:lnSpc>
                <a:spcPts val="4361"/>
              </a:lnSpc>
            </a:pPr>
            <a:r>
              <a:rPr lang="en-US" sz="2967">
                <a:solidFill>
                  <a:srgbClr val="000000"/>
                </a:solidFill>
                <a:latin typeface="Antic Bold"/>
                <a:ea typeface="Antic Bold"/>
                <a:cs typeface="Antic Bold"/>
                <a:sym typeface="Antic Bold"/>
              </a:rPr>
              <a:t>Precision</a:t>
            </a:r>
          </a:p>
          <a:p>
            <a:pPr algn="l">
              <a:lnSpc>
                <a:spcPts val="4361"/>
              </a:lnSpc>
            </a:pPr>
            <a:r>
              <a:rPr lang="en-US" sz="2967">
                <a:solidFill>
                  <a:srgbClr val="000000"/>
                </a:solidFill>
                <a:latin typeface="Antic"/>
                <a:ea typeface="Antic"/>
                <a:cs typeface="Antic"/>
                <a:sym typeface="Antic"/>
              </a:rPr>
              <a:t>Shows how many recommended movies are actually liked by the user.</a:t>
            </a:r>
          </a:p>
          <a:p>
            <a:pPr algn="l">
              <a:lnSpc>
                <a:spcPts val="4361"/>
              </a:lnSpc>
            </a:pPr>
            <a:r>
              <a:rPr lang="en-US" sz="2967">
                <a:solidFill>
                  <a:srgbClr val="000000"/>
                </a:solidFill>
                <a:latin typeface="Antic"/>
                <a:ea typeface="Antic"/>
                <a:cs typeface="Antic"/>
                <a:sym typeface="Antic"/>
              </a:rPr>
              <a:t>Focuses on quality of recommendations.</a:t>
            </a:r>
          </a:p>
          <a:p>
            <a:pPr algn="l">
              <a:lnSpc>
                <a:spcPts val="4361"/>
              </a:lnSpc>
            </a:pPr>
            <a:r>
              <a:rPr lang="en-US" sz="2967">
                <a:solidFill>
                  <a:srgbClr val="000000"/>
                </a:solidFill>
                <a:latin typeface="Antic Bold"/>
                <a:ea typeface="Antic Bold"/>
                <a:cs typeface="Antic Bold"/>
                <a:sym typeface="Antic Bold"/>
              </a:rPr>
              <a:t>Recall</a:t>
            </a:r>
          </a:p>
          <a:p>
            <a:pPr algn="l">
              <a:lnSpc>
                <a:spcPts val="4361"/>
              </a:lnSpc>
            </a:pPr>
            <a:r>
              <a:rPr lang="en-US" sz="2967">
                <a:solidFill>
                  <a:srgbClr val="000000"/>
                </a:solidFill>
                <a:latin typeface="Antic"/>
                <a:ea typeface="Antic"/>
                <a:cs typeface="Antic"/>
                <a:sym typeface="Antic"/>
              </a:rPr>
              <a:t>Show</a:t>
            </a:r>
            <a:r>
              <a:rPr lang="en-US" sz="2967">
                <a:solidFill>
                  <a:srgbClr val="000000"/>
                </a:solidFill>
                <a:latin typeface="Antic"/>
                <a:ea typeface="Antic"/>
                <a:cs typeface="Antic"/>
                <a:sym typeface="Antic"/>
              </a:rPr>
              <a:t>s how many of the user's liked movies are successfully recommended.</a:t>
            </a:r>
          </a:p>
          <a:p>
            <a:pPr algn="l">
              <a:lnSpc>
                <a:spcPts val="4361"/>
              </a:lnSpc>
            </a:pPr>
            <a:r>
              <a:rPr lang="en-US" sz="2967">
                <a:solidFill>
                  <a:srgbClr val="000000"/>
                </a:solidFill>
                <a:latin typeface="Antic"/>
                <a:ea typeface="Antic"/>
                <a:cs typeface="Antic"/>
                <a:sym typeface="Antic"/>
              </a:rPr>
              <a:t>Focuses on coverage of good recommendations.</a:t>
            </a:r>
          </a:p>
          <a:p>
            <a:pPr algn="l">
              <a:lnSpc>
                <a:spcPts val="4361"/>
              </a:lnSpc>
            </a:pPr>
            <a:r>
              <a:rPr lang="en-US" sz="2967">
                <a:solidFill>
                  <a:srgbClr val="000000"/>
                </a:solidFill>
                <a:latin typeface="Antic Bold"/>
                <a:ea typeface="Antic Bold"/>
                <a:cs typeface="Antic Bold"/>
                <a:sym typeface="Antic Bold"/>
              </a:rPr>
              <a:t>F1-Score</a:t>
            </a:r>
          </a:p>
          <a:p>
            <a:pPr algn="l">
              <a:lnSpc>
                <a:spcPts val="4361"/>
              </a:lnSpc>
            </a:pPr>
            <a:r>
              <a:rPr lang="en-US" sz="2967">
                <a:solidFill>
                  <a:srgbClr val="000000"/>
                </a:solidFill>
                <a:latin typeface="Antic"/>
                <a:ea typeface="Antic"/>
                <a:cs typeface="Antic"/>
                <a:sym typeface="Antic"/>
              </a:rPr>
              <a:t>Balances Precision and Recall</a:t>
            </a:r>
          </a:p>
          <a:p>
            <a:pPr algn="l">
              <a:lnSpc>
                <a:spcPts val="4361"/>
              </a:lnSpc>
            </a:pPr>
            <a:r>
              <a:rPr lang="en-US" sz="2967">
                <a:solidFill>
                  <a:srgbClr val="000000"/>
                </a:solidFill>
                <a:latin typeface="Antic"/>
                <a:ea typeface="Antic"/>
                <a:cs typeface="Antic"/>
                <a:sym typeface="Antic"/>
              </a:rPr>
              <a:t>High F1 → both accurate and complete recommendations.</a:t>
            </a:r>
          </a:p>
        </p:txBody>
      </p:sp>
      <p:sp>
        <p:nvSpPr>
          <p:cNvPr name="TextBox 9" id="9"/>
          <p:cNvSpPr txBox="true"/>
          <p:nvPr/>
        </p:nvSpPr>
        <p:spPr>
          <a:xfrm rot="0">
            <a:off x="1266055" y="1170305"/>
            <a:ext cx="15755890"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Evaluating Recommender System Performance</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59784" y="3002589"/>
            <a:ext cx="12680266" cy="6697924"/>
            <a:chOff x="0" y="0"/>
            <a:chExt cx="3339659" cy="1764062"/>
          </a:xfrm>
        </p:grpSpPr>
        <p:sp>
          <p:nvSpPr>
            <p:cNvPr name="Freeform 3" id="3"/>
            <p:cNvSpPr/>
            <p:nvPr/>
          </p:nvSpPr>
          <p:spPr>
            <a:xfrm flipH="false" flipV="false" rot="0">
              <a:off x="0" y="0"/>
              <a:ext cx="3339659" cy="1764062"/>
            </a:xfrm>
            <a:custGeom>
              <a:avLst/>
              <a:gdLst/>
              <a:ahLst/>
              <a:cxnLst/>
              <a:rect r="r" b="b" t="t" l="l"/>
              <a:pathLst>
                <a:path h="1764062" w="3339659">
                  <a:moveTo>
                    <a:pt x="0" y="0"/>
                  </a:moveTo>
                  <a:lnTo>
                    <a:pt x="3339659" y="0"/>
                  </a:lnTo>
                  <a:lnTo>
                    <a:pt x="3339659" y="1764062"/>
                  </a:lnTo>
                  <a:lnTo>
                    <a:pt x="0" y="1764062"/>
                  </a:lnTo>
                  <a:close/>
                </a:path>
              </a:pathLst>
            </a:custGeom>
            <a:solidFill>
              <a:srgbClr val="FFFFFF"/>
            </a:solidFill>
          </p:spPr>
        </p:sp>
        <p:sp>
          <p:nvSpPr>
            <p:cNvPr name="TextBox 4" id="4"/>
            <p:cNvSpPr txBox="true"/>
            <p:nvPr/>
          </p:nvSpPr>
          <p:spPr>
            <a:xfrm>
              <a:off x="0" y="-28575"/>
              <a:ext cx="3339659" cy="1792637"/>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430816" y="710565"/>
            <a:ext cx="19027773" cy="1708150"/>
            <a:chOff x="0" y="0"/>
            <a:chExt cx="5011430" cy="449883"/>
          </a:xfrm>
        </p:grpSpPr>
        <p:sp>
          <p:nvSpPr>
            <p:cNvPr name="Freeform 6" id="6"/>
            <p:cNvSpPr/>
            <p:nvPr/>
          </p:nvSpPr>
          <p:spPr>
            <a:xfrm flipH="false" flipV="false" rot="0">
              <a:off x="0" y="0"/>
              <a:ext cx="5011430" cy="449883"/>
            </a:xfrm>
            <a:custGeom>
              <a:avLst/>
              <a:gdLst/>
              <a:ahLst/>
              <a:cxnLst/>
              <a:rect r="r" b="b" t="t" l="l"/>
              <a:pathLst>
                <a:path h="449883" w="5011430">
                  <a:moveTo>
                    <a:pt x="0" y="0"/>
                  </a:moveTo>
                  <a:lnTo>
                    <a:pt x="5011430" y="0"/>
                  </a:lnTo>
                  <a:lnTo>
                    <a:pt x="5011430" y="449883"/>
                  </a:lnTo>
                  <a:lnTo>
                    <a:pt x="0" y="449883"/>
                  </a:lnTo>
                  <a:close/>
                </a:path>
              </a:pathLst>
            </a:custGeom>
            <a:solidFill>
              <a:srgbClr val="000000"/>
            </a:solidFill>
          </p:spPr>
        </p:sp>
        <p:sp>
          <p:nvSpPr>
            <p:cNvPr name="TextBox 7" id="7"/>
            <p:cNvSpPr txBox="true"/>
            <p:nvPr/>
          </p:nvSpPr>
          <p:spPr>
            <a:xfrm>
              <a:off x="0" y="-28575"/>
              <a:ext cx="5011430" cy="478458"/>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758911" y="2793039"/>
            <a:ext cx="16239111" cy="5106136"/>
          </a:xfrm>
          <a:prstGeom prst="rect">
            <a:avLst/>
          </a:prstGeom>
        </p:spPr>
        <p:txBody>
          <a:bodyPr anchor="t" rtlCol="false" tIns="0" lIns="0" bIns="0" rIns="0">
            <a:spAutoFit/>
          </a:bodyPr>
          <a:lstStyle/>
          <a:p>
            <a:pPr algn="l" marL="683371" indent="-341686" lvl="1">
              <a:lnSpc>
                <a:spcPts val="5824"/>
              </a:lnSpc>
              <a:buAutoNum type="arabicPeriod" startAt="1"/>
            </a:pPr>
            <a:r>
              <a:rPr lang="en-US" sz="3165" spc="250">
                <a:solidFill>
                  <a:srgbClr val="000000"/>
                </a:solidFill>
                <a:latin typeface="Antic Bold"/>
                <a:ea typeface="Antic Bold"/>
                <a:cs typeface="Antic Bold"/>
                <a:sym typeface="Antic Bold"/>
              </a:rPr>
              <a:t>Programming</a:t>
            </a:r>
            <a:r>
              <a:rPr lang="en-US" sz="3165" spc="250">
                <a:solidFill>
                  <a:srgbClr val="000000"/>
                </a:solidFill>
                <a:latin typeface="Antic Bold"/>
                <a:ea typeface="Antic Bold"/>
                <a:cs typeface="Antic Bold"/>
                <a:sym typeface="Antic Bold"/>
              </a:rPr>
              <a:t> Language</a:t>
            </a:r>
          </a:p>
          <a:p>
            <a:pPr algn="l" marL="683371" indent="-341686" lvl="1">
              <a:lnSpc>
                <a:spcPts val="5824"/>
              </a:lnSpc>
              <a:buFont typeface="Arial"/>
              <a:buChar char="•"/>
            </a:pPr>
            <a:r>
              <a:rPr lang="en-US" sz="3165" spc="250">
                <a:solidFill>
                  <a:srgbClr val="000000"/>
                </a:solidFill>
                <a:latin typeface="Antic"/>
                <a:ea typeface="Antic"/>
                <a:cs typeface="Antic"/>
                <a:sym typeface="Antic"/>
              </a:rPr>
              <a:t>Python – Core language for implementing algorithms, data processing, and backend logic.</a:t>
            </a:r>
          </a:p>
          <a:p>
            <a:pPr algn="l" marL="683371" indent="-341686" lvl="1">
              <a:lnSpc>
                <a:spcPts val="5824"/>
              </a:lnSpc>
              <a:buAutoNum type="arabicPeriod" startAt="1"/>
            </a:pPr>
            <a:r>
              <a:rPr lang="en-US" sz="3165" spc="250">
                <a:solidFill>
                  <a:srgbClr val="000000"/>
                </a:solidFill>
                <a:latin typeface="Antic Bold"/>
                <a:ea typeface="Antic Bold"/>
                <a:cs typeface="Antic Bold"/>
                <a:sym typeface="Antic Bold"/>
              </a:rPr>
              <a:t>Libraries and Frameworks</a:t>
            </a:r>
          </a:p>
          <a:p>
            <a:pPr algn="l" marL="683371" indent="-341686" lvl="1">
              <a:lnSpc>
                <a:spcPts val="5824"/>
              </a:lnSpc>
              <a:buFont typeface="Arial"/>
              <a:buChar char="•"/>
            </a:pPr>
            <a:r>
              <a:rPr lang="en-US" sz="3165" spc="250">
                <a:solidFill>
                  <a:srgbClr val="000000"/>
                </a:solidFill>
                <a:latin typeface="Antic"/>
                <a:ea typeface="Antic"/>
                <a:cs typeface="Antic"/>
                <a:sym typeface="Antic"/>
              </a:rPr>
              <a:t>NumPy, Pandas, SciPy – For data analysis, manipulation, and performing SVD on sparse matrices.</a:t>
            </a:r>
          </a:p>
          <a:p>
            <a:pPr algn="l">
              <a:lnSpc>
                <a:spcPts val="5824"/>
              </a:lnSpc>
            </a:pPr>
          </a:p>
        </p:txBody>
      </p:sp>
      <p:sp>
        <p:nvSpPr>
          <p:cNvPr name="TextBox 9" id="9"/>
          <p:cNvSpPr txBox="true"/>
          <p:nvPr/>
        </p:nvSpPr>
        <p:spPr>
          <a:xfrm rot="0">
            <a:off x="1438194" y="1170305"/>
            <a:ext cx="15289752"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Tools and Technologies Used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7376" y="1028700"/>
            <a:ext cx="7521452" cy="8880038"/>
          </a:xfrm>
          <a:custGeom>
            <a:avLst/>
            <a:gdLst/>
            <a:ahLst/>
            <a:cxnLst/>
            <a:rect r="r" b="b" t="t" l="l"/>
            <a:pathLst>
              <a:path h="8880038" w="7521452">
                <a:moveTo>
                  <a:pt x="0" y="0"/>
                </a:moveTo>
                <a:lnTo>
                  <a:pt x="7521452" y="0"/>
                </a:lnTo>
                <a:lnTo>
                  <a:pt x="7521452" y="8880038"/>
                </a:lnTo>
                <a:lnTo>
                  <a:pt x="0" y="8880038"/>
                </a:lnTo>
                <a:lnTo>
                  <a:pt x="0" y="0"/>
                </a:lnTo>
                <a:close/>
              </a:path>
            </a:pathLst>
          </a:custGeom>
          <a:blipFill>
            <a:blip r:embed="rId2"/>
            <a:stretch>
              <a:fillRect l="0" t="0" r="0" b="0"/>
            </a:stretch>
          </a:blipFill>
        </p:spPr>
      </p:sp>
      <p:sp>
        <p:nvSpPr>
          <p:cNvPr name="Freeform 3" id="3"/>
          <p:cNvSpPr/>
          <p:nvPr/>
        </p:nvSpPr>
        <p:spPr>
          <a:xfrm flipH="false" flipV="false" rot="0">
            <a:off x="8757419" y="1336704"/>
            <a:ext cx="9321314" cy="7613592"/>
          </a:xfrm>
          <a:custGeom>
            <a:avLst/>
            <a:gdLst/>
            <a:ahLst/>
            <a:cxnLst/>
            <a:rect r="r" b="b" t="t" l="l"/>
            <a:pathLst>
              <a:path h="7613592" w="9321314">
                <a:moveTo>
                  <a:pt x="0" y="0"/>
                </a:moveTo>
                <a:lnTo>
                  <a:pt x="9321313" y="0"/>
                </a:lnTo>
                <a:lnTo>
                  <a:pt x="9321313" y="7613592"/>
                </a:lnTo>
                <a:lnTo>
                  <a:pt x="0" y="7613592"/>
                </a:lnTo>
                <a:lnTo>
                  <a:pt x="0" y="0"/>
                </a:lnTo>
                <a:close/>
              </a:path>
            </a:pathLst>
          </a:custGeom>
          <a:blipFill>
            <a:blip r:embed="rId3"/>
            <a:stretch>
              <a:fillRect l="0" t="0" r="0" b="0"/>
            </a:stretch>
          </a:blipFill>
        </p:spPr>
      </p:sp>
      <p:sp>
        <p:nvSpPr>
          <p:cNvPr name="TextBox 4" id="4"/>
          <p:cNvSpPr txBox="true"/>
          <p:nvPr/>
        </p:nvSpPr>
        <p:spPr>
          <a:xfrm rot="0">
            <a:off x="3281348" y="316230"/>
            <a:ext cx="10952140" cy="712470"/>
          </a:xfrm>
          <a:prstGeom prst="rect">
            <a:avLst/>
          </a:prstGeom>
        </p:spPr>
        <p:txBody>
          <a:bodyPr anchor="t" rtlCol="false" tIns="0" lIns="0" bIns="0" rIns="0">
            <a:spAutoFit/>
          </a:bodyPr>
          <a:lstStyle/>
          <a:p>
            <a:pPr algn="ctr">
              <a:lnSpc>
                <a:spcPts val="5880"/>
              </a:lnSpc>
            </a:pPr>
            <a:r>
              <a:rPr lang="en-US" sz="4200">
                <a:solidFill>
                  <a:srgbClr val="000000"/>
                </a:solidFill>
                <a:latin typeface="TAN Headline"/>
                <a:ea typeface="TAN Headline"/>
                <a:cs typeface="TAN Headline"/>
                <a:sym typeface="TAN Headline"/>
              </a:rPr>
              <a:t>Code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39569" y="1146703"/>
            <a:ext cx="9766443" cy="5736769"/>
          </a:xfrm>
          <a:custGeom>
            <a:avLst/>
            <a:gdLst/>
            <a:ahLst/>
            <a:cxnLst/>
            <a:rect r="r" b="b" t="t" l="l"/>
            <a:pathLst>
              <a:path h="5736769" w="9766443">
                <a:moveTo>
                  <a:pt x="0" y="0"/>
                </a:moveTo>
                <a:lnTo>
                  <a:pt x="9766443" y="0"/>
                </a:lnTo>
                <a:lnTo>
                  <a:pt x="9766443" y="5736769"/>
                </a:lnTo>
                <a:lnTo>
                  <a:pt x="0" y="5736769"/>
                </a:lnTo>
                <a:lnTo>
                  <a:pt x="0" y="0"/>
                </a:lnTo>
                <a:close/>
              </a:path>
            </a:pathLst>
          </a:custGeom>
          <a:blipFill>
            <a:blip r:embed="rId2"/>
            <a:stretch>
              <a:fillRect l="0" t="0" r="0" b="0"/>
            </a:stretch>
          </a:blipFill>
        </p:spPr>
      </p:sp>
      <p:sp>
        <p:nvSpPr>
          <p:cNvPr name="Freeform 3" id="3"/>
          <p:cNvSpPr/>
          <p:nvPr/>
        </p:nvSpPr>
        <p:spPr>
          <a:xfrm flipH="false" flipV="false" rot="0">
            <a:off x="291526" y="1028700"/>
            <a:ext cx="7324351" cy="5972775"/>
          </a:xfrm>
          <a:custGeom>
            <a:avLst/>
            <a:gdLst/>
            <a:ahLst/>
            <a:cxnLst/>
            <a:rect r="r" b="b" t="t" l="l"/>
            <a:pathLst>
              <a:path h="5972775" w="7324351">
                <a:moveTo>
                  <a:pt x="0" y="0"/>
                </a:moveTo>
                <a:lnTo>
                  <a:pt x="7324351" y="0"/>
                </a:lnTo>
                <a:lnTo>
                  <a:pt x="7324351" y="5972775"/>
                </a:lnTo>
                <a:lnTo>
                  <a:pt x="0" y="5972775"/>
                </a:lnTo>
                <a:lnTo>
                  <a:pt x="0" y="0"/>
                </a:lnTo>
                <a:close/>
              </a:path>
            </a:pathLst>
          </a:custGeom>
          <a:blipFill>
            <a:blip r:embed="rId3"/>
            <a:stretch>
              <a:fillRect l="0" t="0" r="0" b="0"/>
            </a:stretch>
          </a:blipFill>
        </p:spPr>
      </p:sp>
      <p:sp>
        <p:nvSpPr>
          <p:cNvPr name="Freeform 4" id="4"/>
          <p:cNvSpPr/>
          <p:nvPr/>
        </p:nvSpPr>
        <p:spPr>
          <a:xfrm flipH="false" flipV="false" rot="0">
            <a:off x="7146465" y="8137128"/>
            <a:ext cx="10976228" cy="1534480"/>
          </a:xfrm>
          <a:custGeom>
            <a:avLst/>
            <a:gdLst/>
            <a:ahLst/>
            <a:cxnLst/>
            <a:rect r="r" b="b" t="t" l="l"/>
            <a:pathLst>
              <a:path h="1534480" w="10976228">
                <a:moveTo>
                  <a:pt x="0" y="0"/>
                </a:moveTo>
                <a:lnTo>
                  <a:pt x="10976227" y="0"/>
                </a:lnTo>
                <a:lnTo>
                  <a:pt x="10976227" y="1534480"/>
                </a:lnTo>
                <a:lnTo>
                  <a:pt x="0" y="1534480"/>
                </a:lnTo>
                <a:lnTo>
                  <a:pt x="0" y="0"/>
                </a:lnTo>
                <a:close/>
              </a:path>
            </a:pathLst>
          </a:custGeom>
          <a:blipFill>
            <a:blip r:embed="rId4"/>
            <a:stretch>
              <a:fillRect l="0" t="0" r="0" b="0"/>
            </a:stretch>
          </a:blipFill>
        </p:spPr>
      </p:sp>
      <p:sp>
        <p:nvSpPr>
          <p:cNvPr name="Freeform 5" id="5"/>
          <p:cNvSpPr/>
          <p:nvPr/>
        </p:nvSpPr>
        <p:spPr>
          <a:xfrm flipH="false" flipV="false" rot="0">
            <a:off x="458882" y="7768714"/>
            <a:ext cx="6128216" cy="1902893"/>
          </a:xfrm>
          <a:custGeom>
            <a:avLst/>
            <a:gdLst/>
            <a:ahLst/>
            <a:cxnLst/>
            <a:rect r="r" b="b" t="t" l="l"/>
            <a:pathLst>
              <a:path h="1902893" w="6128216">
                <a:moveTo>
                  <a:pt x="0" y="0"/>
                </a:moveTo>
                <a:lnTo>
                  <a:pt x="6128216" y="0"/>
                </a:lnTo>
                <a:lnTo>
                  <a:pt x="6128216" y="1902894"/>
                </a:lnTo>
                <a:lnTo>
                  <a:pt x="0" y="1902894"/>
                </a:lnTo>
                <a:lnTo>
                  <a:pt x="0" y="0"/>
                </a:lnTo>
                <a:close/>
              </a:path>
            </a:pathLst>
          </a:custGeom>
          <a:blipFill>
            <a:blip r:embed="rId5"/>
            <a:stretch>
              <a:fillRect l="0" t="0" r="0" b="0"/>
            </a:stretch>
          </a:blipFill>
          <a:ln cap="sq">
            <a:noFill/>
            <a:prstDash val="solid"/>
            <a:miter/>
          </a:ln>
        </p:spPr>
      </p:sp>
      <p:sp>
        <p:nvSpPr>
          <p:cNvPr name="TextBox 6" id="6"/>
          <p:cNvSpPr txBox="true"/>
          <p:nvPr/>
        </p:nvSpPr>
        <p:spPr>
          <a:xfrm rot="0">
            <a:off x="6307160" y="7174966"/>
            <a:ext cx="10952140" cy="712470"/>
          </a:xfrm>
          <a:prstGeom prst="rect">
            <a:avLst/>
          </a:prstGeom>
        </p:spPr>
        <p:txBody>
          <a:bodyPr anchor="t" rtlCol="false" tIns="0" lIns="0" bIns="0" rIns="0">
            <a:spAutoFit/>
          </a:bodyPr>
          <a:lstStyle/>
          <a:p>
            <a:pPr algn="ctr">
              <a:lnSpc>
                <a:spcPts val="5880"/>
              </a:lnSpc>
            </a:pPr>
            <a:r>
              <a:rPr lang="en-US" sz="4200">
                <a:solidFill>
                  <a:srgbClr val="000000"/>
                </a:solidFill>
                <a:latin typeface="TAN Headline"/>
                <a:ea typeface="TAN Headline"/>
                <a:cs typeface="TAN Headline"/>
                <a:sym typeface="TAN Headline"/>
              </a:rPr>
              <a:t>Output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64317" y="1701403"/>
            <a:ext cx="10221572" cy="7065437"/>
          </a:xfrm>
          <a:custGeom>
            <a:avLst/>
            <a:gdLst/>
            <a:ahLst/>
            <a:cxnLst/>
            <a:rect r="r" b="b" t="t" l="l"/>
            <a:pathLst>
              <a:path h="7065437" w="10221572">
                <a:moveTo>
                  <a:pt x="0" y="0"/>
                </a:moveTo>
                <a:lnTo>
                  <a:pt x="10221572" y="0"/>
                </a:lnTo>
                <a:lnTo>
                  <a:pt x="10221572" y="7065438"/>
                </a:lnTo>
                <a:lnTo>
                  <a:pt x="0" y="7065438"/>
                </a:lnTo>
                <a:lnTo>
                  <a:pt x="0" y="0"/>
                </a:lnTo>
                <a:close/>
              </a:path>
            </a:pathLst>
          </a:custGeom>
          <a:blipFill>
            <a:blip r:embed="rId2"/>
            <a:stretch>
              <a:fillRect l="0" t="0" r="0" b="0"/>
            </a:stretch>
          </a:blipFill>
        </p:spPr>
      </p:sp>
      <p:sp>
        <p:nvSpPr>
          <p:cNvPr name="TextBox 3" id="3"/>
          <p:cNvSpPr txBox="true"/>
          <p:nvPr/>
        </p:nvSpPr>
        <p:spPr>
          <a:xfrm rot="0">
            <a:off x="3433748" y="786765"/>
            <a:ext cx="10952140" cy="712470"/>
          </a:xfrm>
          <a:prstGeom prst="rect">
            <a:avLst/>
          </a:prstGeom>
        </p:spPr>
        <p:txBody>
          <a:bodyPr anchor="t" rtlCol="false" tIns="0" lIns="0" bIns="0" rIns="0">
            <a:spAutoFit/>
          </a:bodyPr>
          <a:lstStyle/>
          <a:p>
            <a:pPr algn="ctr">
              <a:lnSpc>
                <a:spcPts val="5880"/>
              </a:lnSpc>
            </a:pPr>
            <a:r>
              <a:rPr lang="en-US" sz="4200">
                <a:solidFill>
                  <a:srgbClr val="000000"/>
                </a:solidFill>
                <a:latin typeface="TAN Headline"/>
                <a:ea typeface="TAN Headline"/>
                <a:cs typeface="TAN Headline"/>
                <a:sym typeface="TAN Headline"/>
              </a:rPr>
              <a:t>Website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0816" y="1028700"/>
            <a:ext cx="19027773" cy="1708150"/>
            <a:chOff x="0" y="0"/>
            <a:chExt cx="5011430" cy="449883"/>
          </a:xfrm>
        </p:grpSpPr>
        <p:sp>
          <p:nvSpPr>
            <p:cNvPr name="Freeform 3" id="3"/>
            <p:cNvSpPr/>
            <p:nvPr/>
          </p:nvSpPr>
          <p:spPr>
            <a:xfrm flipH="false" flipV="false" rot="0">
              <a:off x="0" y="0"/>
              <a:ext cx="5011430" cy="449883"/>
            </a:xfrm>
            <a:custGeom>
              <a:avLst/>
              <a:gdLst/>
              <a:ahLst/>
              <a:cxnLst/>
              <a:rect r="r" b="b" t="t" l="l"/>
              <a:pathLst>
                <a:path h="449883" w="5011430">
                  <a:moveTo>
                    <a:pt x="0" y="0"/>
                  </a:moveTo>
                  <a:lnTo>
                    <a:pt x="5011430" y="0"/>
                  </a:lnTo>
                  <a:lnTo>
                    <a:pt x="5011430" y="449883"/>
                  </a:lnTo>
                  <a:lnTo>
                    <a:pt x="0" y="449883"/>
                  </a:lnTo>
                  <a:close/>
                </a:path>
              </a:pathLst>
            </a:custGeom>
            <a:solidFill>
              <a:srgbClr val="000000"/>
            </a:solidFill>
          </p:spPr>
        </p:sp>
        <p:sp>
          <p:nvSpPr>
            <p:cNvPr name="TextBox 4" id="4"/>
            <p:cNvSpPr txBox="true"/>
            <p:nvPr/>
          </p:nvSpPr>
          <p:spPr>
            <a:xfrm>
              <a:off x="0" y="-28575"/>
              <a:ext cx="5011430" cy="478458"/>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1028700" y="4425172"/>
            <a:ext cx="16951743" cy="3776558"/>
          </a:xfrm>
          <a:prstGeom prst="rect">
            <a:avLst/>
          </a:prstGeom>
        </p:spPr>
        <p:txBody>
          <a:bodyPr anchor="t" rtlCol="false" tIns="0" lIns="0" bIns="0" rIns="0">
            <a:spAutoFit/>
          </a:bodyPr>
          <a:lstStyle/>
          <a:p>
            <a:pPr algn="l" marL="630364" indent="-315182" lvl="1">
              <a:lnSpc>
                <a:spcPts val="4291"/>
              </a:lnSpc>
              <a:buFont typeface="Arial"/>
              <a:buChar char="•"/>
            </a:pPr>
            <a:r>
              <a:rPr lang="en-US" sz="2919">
                <a:solidFill>
                  <a:srgbClr val="000000"/>
                </a:solidFill>
                <a:latin typeface="Antic"/>
                <a:ea typeface="Antic"/>
                <a:cs typeface="Antic"/>
                <a:sym typeface="Antic"/>
              </a:rPr>
              <a:t>MovieLens Dataset: https://grouplens.org/datasets/movielens/</a:t>
            </a:r>
          </a:p>
          <a:p>
            <a:pPr algn="l" marL="630364" indent="-315182" lvl="1">
              <a:lnSpc>
                <a:spcPts val="4291"/>
              </a:lnSpc>
              <a:buFont typeface="Arial"/>
              <a:buChar char="•"/>
            </a:pPr>
            <a:r>
              <a:rPr lang="en-US" sz="2919">
                <a:solidFill>
                  <a:srgbClr val="000000"/>
                </a:solidFill>
                <a:latin typeface="Antic"/>
                <a:ea typeface="Antic"/>
                <a:cs typeface="Antic"/>
                <a:sym typeface="Antic"/>
              </a:rPr>
              <a:t>FastAPI Framework: https://fastapi.tiangolo.com/</a:t>
            </a:r>
          </a:p>
          <a:p>
            <a:pPr algn="l" marL="630364" indent="-315182" lvl="1">
              <a:lnSpc>
                <a:spcPts val="4291"/>
              </a:lnSpc>
              <a:buFont typeface="Arial"/>
              <a:buChar char="•"/>
            </a:pPr>
            <a:r>
              <a:rPr lang="en-US" sz="2919">
                <a:solidFill>
                  <a:srgbClr val="000000"/>
                </a:solidFill>
                <a:latin typeface="Antic"/>
                <a:ea typeface="Antic"/>
                <a:cs typeface="Antic"/>
                <a:sym typeface="Antic"/>
              </a:rPr>
              <a:t>Ngrok for Deployment: https://ngrok.com/docs</a:t>
            </a:r>
          </a:p>
          <a:p>
            <a:pPr algn="l" marL="630364" indent="-315182" lvl="1">
              <a:lnSpc>
                <a:spcPts val="4291"/>
              </a:lnSpc>
              <a:buFont typeface="Arial"/>
              <a:buChar char="•"/>
            </a:pPr>
            <a:r>
              <a:rPr lang="en-US" sz="2919">
                <a:solidFill>
                  <a:srgbClr val="000000"/>
                </a:solidFill>
                <a:latin typeface="Antic"/>
                <a:ea typeface="Antic"/>
                <a:cs typeface="Antic"/>
                <a:sym typeface="Antic"/>
              </a:rPr>
              <a:t>Python Libraries: https://numpy.org/, https://pandas.pydata.org/, https://scipy.org/</a:t>
            </a:r>
          </a:p>
          <a:p>
            <a:pPr algn="l" marL="630364" indent="-315182" lvl="1">
              <a:lnSpc>
                <a:spcPts val="4291"/>
              </a:lnSpc>
              <a:buFont typeface="Arial"/>
              <a:buChar char="•"/>
            </a:pPr>
            <a:r>
              <a:rPr lang="en-US" sz="2919">
                <a:solidFill>
                  <a:srgbClr val="000000"/>
                </a:solidFill>
                <a:latin typeface="Antic"/>
                <a:ea typeface="Antic"/>
                <a:cs typeface="Antic"/>
                <a:sym typeface="Antic"/>
              </a:rPr>
              <a:t>Dataset Source (Kaggle): https://www.kaggle.com/datasets</a:t>
            </a:r>
          </a:p>
          <a:p>
            <a:pPr algn="l" marL="630364" indent="-315182" lvl="1">
              <a:lnSpc>
                <a:spcPts val="4291"/>
              </a:lnSpc>
              <a:buFont typeface="Arial"/>
              <a:buChar char="•"/>
            </a:pPr>
            <a:r>
              <a:rPr lang="en-US" sz="2919">
                <a:solidFill>
                  <a:srgbClr val="000000"/>
                </a:solidFill>
                <a:latin typeface="Antic"/>
                <a:ea typeface="Antic"/>
                <a:cs typeface="Antic"/>
                <a:sym typeface="Antic"/>
              </a:rPr>
              <a:t>Project Demo Link: </a:t>
            </a:r>
            <a:r>
              <a:rPr lang="en-US" sz="2919">
                <a:solidFill>
                  <a:srgbClr val="000000"/>
                </a:solidFill>
                <a:latin typeface="Antic"/>
                <a:ea typeface="Antic"/>
                <a:cs typeface="Antic"/>
                <a:sym typeface="Antic"/>
                <a:hlinkClick r:id="rId2" tooltip="https://joana-blepharitic-nancey.ngrok-free.dev"/>
              </a:rPr>
              <a:t>https://joana-blepharitic-nancey.ngrok-free.dev</a:t>
            </a:r>
          </a:p>
          <a:p>
            <a:pPr algn="l">
              <a:lnSpc>
                <a:spcPts val="4291"/>
              </a:lnSpc>
            </a:pPr>
          </a:p>
        </p:txBody>
      </p:sp>
      <p:sp>
        <p:nvSpPr>
          <p:cNvPr name="TextBox 6" id="6"/>
          <p:cNvSpPr txBox="true"/>
          <p:nvPr/>
        </p:nvSpPr>
        <p:spPr>
          <a:xfrm rot="0">
            <a:off x="0" y="1488440"/>
            <a:ext cx="18288000" cy="712470"/>
          </a:xfrm>
          <a:prstGeom prst="rect">
            <a:avLst/>
          </a:prstGeom>
        </p:spPr>
        <p:txBody>
          <a:bodyPr anchor="t" rtlCol="false" tIns="0" lIns="0" bIns="0" rIns="0">
            <a:spAutoFit/>
          </a:bodyPr>
          <a:lstStyle/>
          <a:p>
            <a:pPr algn="ctr">
              <a:lnSpc>
                <a:spcPts val="5880"/>
              </a:lnSpc>
            </a:pPr>
            <a:r>
              <a:rPr lang="en-US" sz="4200">
                <a:solidFill>
                  <a:srgbClr val="FFFFFF"/>
                </a:solidFill>
                <a:latin typeface="TAN Headline"/>
                <a:ea typeface="TAN Headline"/>
                <a:cs typeface="TAN Headline"/>
                <a:sym typeface="TAN Headline"/>
              </a:rPr>
              <a:t>References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40237" y="2171208"/>
            <a:ext cx="13607527" cy="5944585"/>
            <a:chOff x="0" y="0"/>
            <a:chExt cx="3583875" cy="1565652"/>
          </a:xfrm>
        </p:grpSpPr>
        <p:sp>
          <p:nvSpPr>
            <p:cNvPr name="Freeform 3" id="3"/>
            <p:cNvSpPr/>
            <p:nvPr/>
          </p:nvSpPr>
          <p:spPr>
            <a:xfrm flipH="false" flipV="false" rot="0">
              <a:off x="0" y="0"/>
              <a:ext cx="3583875" cy="1565652"/>
            </a:xfrm>
            <a:custGeom>
              <a:avLst/>
              <a:gdLst/>
              <a:ahLst/>
              <a:cxnLst/>
              <a:rect r="r" b="b" t="t" l="l"/>
              <a:pathLst>
                <a:path h="1565652" w="3583875">
                  <a:moveTo>
                    <a:pt x="0" y="0"/>
                  </a:moveTo>
                  <a:lnTo>
                    <a:pt x="3583875" y="0"/>
                  </a:lnTo>
                  <a:lnTo>
                    <a:pt x="3583875" y="1565652"/>
                  </a:lnTo>
                  <a:lnTo>
                    <a:pt x="0" y="1565652"/>
                  </a:lnTo>
                  <a:close/>
                </a:path>
              </a:pathLst>
            </a:custGeom>
            <a:solidFill>
              <a:srgbClr val="FFFFFF"/>
            </a:solidFill>
          </p:spPr>
        </p:sp>
        <p:sp>
          <p:nvSpPr>
            <p:cNvPr name="TextBox 4" id="4"/>
            <p:cNvSpPr txBox="true"/>
            <p:nvPr/>
          </p:nvSpPr>
          <p:spPr>
            <a:xfrm>
              <a:off x="0" y="-28575"/>
              <a:ext cx="3583875" cy="1594227"/>
            </a:xfrm>
            <a:prstGeom prst="rect">
              <a:avLst/>
            </a:prstGeom>
          </p:spPr>
          <p:txBody>
            <a:bodyPr anchor="ctr" rtlCol="false" tIns="50800" lIns="50800" bIns="50800" rIns="50800"/>
            <a:lstStyle/>
            <a:p>
              <a:pPr algn="ctr">
                <a:lnSpc>
                  <a:spcPts val="1960"/>
                </a:lnSpc>
              </a:pPr>
            </a:p>
          </p:txBody>
        </p:sp>
      </p:grpSp>
      <p:sp>
        <p:nvSpPr>
          <p:cNvPr name="Freeform 5" id="5"/>
          <p:cNvSpPr/>
          <p:nvPr/>
        </p:nvSpPr>
        <p:spPr>
          <a:xfrm flipH="false" flipV="false" rot="1079160">
            <a:off x="7263581" y="7631881"/>
            <a:ext cx="3760839" cy="4114800"/>
          </a:xfrm>
          <a:custGeom>
            <a:avLst/>
            <a:gdLst/>
            <a:ahLst/>
            <a:cxnLst/>
            <a:rect r="r" b="b" t="t" l="l"/>
            <a:pathLst>
              <a:path h="4114800" w="3760839">
                <a:moveTo>
                  <a:pt x="0" y="0"/>
                </a:moveTo>
                <a:lnTo>
                  <a:pt x="3760838" y="0"/>
                </a:lnTo>
                <a:lnTo>
                  <a:pt x="376083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357121" y="4985056"/>
            <a:ext cx="10506255" cy="1453614"/>
          </a:xfrm>
          <a:prstGeom prst="rect">
            <a:avLst/>
          </a:prstGeom>
        </p:spPr>
        <p:txBody>
          <a:bodyPr anchor="t" rtlCol="false" tIns="0" lIns="0" bIns="0" rIns="0">
            <a:spAutoFit/>
          </a:bodyPr>
          <a:lstStyle/>
          <a:p>
            <a:pPr algn="ctr">
              <a:lnSpc>
                <a:spcPts val="10558"/>
              </a:lnSpc>
            </a:pPr>
            <a:r>
              <a:rPr lang="en-US" sz="12136">
                <a:solidFill>
                  <a:srgbClr val="000000"/>
                </a:solidFill>
                <a:latin typeface="TAN Headline"/>
                <a:ea typeface="TAN Headline"/>
                <a:cs typeface="TAN Headline"/>
                <a:sym typeface="TAN Headline"/>
              </a:rPr>
              <a:t>Thank You</a:t>
            </a:r>
          </a:p>
        </p:txBody>
      </p:sp>
      <p:sp>
        <p:nvSpPr>
          <p:cNvPr name="Freeform 7" id="7"/>
          <p:cNvSpPr/>
          <p:nvPr/>
        </p:nvSpPr>
        <p:spPr>
          <a:xfrm flipH="false" flipV="false" rot="-1436891">
            <a:off x="-57322" y="6455483"/>
            <a:ext cx="4167216" cy="3646314"/>
          </a:xfrm>
          <a:custGeom>
            <a:avLst/>
            <a:gdLst/>
            <a:ahLst/>
            <a:cxnLst/>
            <a:rect r="r" b="b" t="t" l="l"/>
            <a:pathLst>
              <a:path h="3646314" w="4167216">
                <a:moveTo>
                  <a:pt x="0" y="0"/>
                </a:moveTo>
                <a:lnTo>
                  <a:pt x="4167216" y="0"/>
                </a:lnTo>
                <a:lnTo>
                  <a:pt x="4167216" y="3646314"/>
                </a:lnTo>
                <a:lnTo>
                  <a:pt x="0" y="36463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952308">
            <a:off x="14121375" y="493021"/>
            <a:ext cx="4415125" cy="3162333"/>
          </a:xfrm>
          <a:custGeom>
            <a:avLst/>
            <a:gdLst/>
            <a:ahLst/>
            <a:cxnLst/>
            <a:rect r="r" b="b" t="t" l="l"/>
            <a:pathLst>
              <a:path h="3162333" w="4415125">
                <a:moveTo>
                  <a:pt x="0" y="0"/>
                </a:moveTo>
                <a:lnTo>
                  <a:pt x="4415125" y="0"/>
                </a:lnTo>
                <a:lnTo>
                  <a:pt x="4415125" y="3162333"/>
                </a:lnTo>
                <a:lnTo>
                  <a:pt x="0" y="31623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08957" y="-222363"/>
            <a:ext cx="5746837" cy="4816894"/>
          </a:xfrm>
          <a:custGeom>
            <a:avLst/>
            <a:gdLst/>
            <a:ahLst/>
            <a:cxnLst/>
            <a:rect r="r" b="b" t="t" l="l"/>
            <a:pathLst>
              <a:path h="4816894" w="5746837">
                <a:moveTo>
                  <a:pt x="0" y="0"/>
                </a:moveTo>
                <a:lnTo>
                  <a:pt x="5746837" y="0"/>
                </a:lnTo>
                <a:lnTo>
                  <a:pt x="5746837" y="4816894"/>
                </a:lnTo>
                <a:lnTo>
                  <a:pt x="0" y="48168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4863375" y="5943901"/>
            <a:ext cx="4177060" cy="4669478"/>
          </a:xfrm>
          <a:custGeom>
            <a:avLst/>
            <a:gdLst/>
            <a:ahLst/>
            <a:cxnLst/>
            <a:rect r="r" b="b" t="t" l="l"/>
            <a:pathLst>
              <a:path h="4669478" w="4177060">
                <a:moveTo>
                  <a:pt x="0" y="0"/>
                </a:moveTo>
                <a:lnTo>
                  <a:pt x="4177060" y="0"/>
                </a:lnTo>
                <a:lnTo>
                  <a:pt x="4177060" y="4669478"/>
                </a:lnTo>
                <a:lnTo>
                  <a:pt x="0" y="46694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237710" y="-740780"/>
            <a:ext cx="3515591" cy="2486481"/>
          </a:xfrm>
          <a:custGeom>
            <a:avLst/>
            <a:gdLst/>
            <a:ahLst/>
            <a:cxnLst/>
            <a:rect r="r" b="b" t="t" l="l"/>
            <a:pathLst>
              <a:path h="2486481" w="3515591">
                <a:moveTo>
                  <a:pt x="0" y="0"/>
                </a:moveTo>
                <a:lnTo>
                  <a:pt x="3515590" y="0"/>
                </a:lnTo>
                <a:lnTo>
                  <a:pt x="3515590" y="2486482"/>
                </a:lnTo>
                <a:lnTo>
                  <a:pt x="0" y="24864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DAG1jUZMZH0</dc:identifier>
  <dcterms:modified xsi:type="dcterms:W3CDTF">2011-08-01T06:04:30Z</dcterms:modified>
  <cp:revision>1</cp:revision>
  <dc:title>Mood Based Movie Recommender Sys</dc:title>
</cp:coreProperties>
</file>